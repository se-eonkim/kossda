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9BA1"/>
    <a:srgbClr val="EBD5D8"/>
    <a:srgbClr val="ECECE4"/>
    <a:srgbClr val="B25662"/>
    <a:srgbClr val="C86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9" autoAdjust="0"/>
    <p:restoredTop sz="83573" autoAdjust="0"/>
  </p:normalViewPr>
  <p:slideViewPr>
    <p:cSldViewPr snapToGrid="0" snapToObjects="1">
      <p:cViewPr varScale="1">
        <p:scale>
          <a:sx n="58" d="100"/>
          <a:sy n="58" d="100"/>
        </p:scale>
        <p:origin x="-80" y="-8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81AD6-2B7C-4FE6-A504-DE82AF433B2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06924-D221-4D6B-9300-9B054EF43F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39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발자국</a:t>
            </a:r>
            <a:r>
              <a:rPr lang="en-US" altLang="ko-KR" dirty="0" smtClean="0"/>
              <a:t>? </a:t>
            </a:r>
            <a:r>
              <a:rPr lang="ko-KR" altLang="en-US" dirty="0" smtClean="0"/>
              <a:t>기록되는 느낌</a:t>
            </a:r>
            <a:r>
              <a:rPr lang="en-US" altLang="ko-KR" dirty="0" smtClean="0"/>
              <a:t>. </a:t>
            </a:r>
            <a:r>
              <a:rPr lang="ko-KR" altLang="en-US" dirty="0" smtClean="0"/>
              <a:t>메커니즘 연구 느낌을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그림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으로 살리기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91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Symbol"/>
              <a:buNone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425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9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426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 smtClean="0">
              <a:solidFill>
                <a:srgbClr val="888888"/>
              </a:solidFill>
              <a:latin typeface="Gmarket Sans TTF Medium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261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450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4143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1424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363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944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06924-D221-4D6B-9300-9B054EF43F8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619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19214" cy="68797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540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KOSSDA 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대학생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데이터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시각화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공모전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00 / 11</a:t>
            </a:r>
          </a:p>
        </p:txBody>
      </p:sp>
      <p:sp>
        <p:nvSpPr>
          <p:cNvPr id="10" name="Rectangle 2"/>
          <p:cNvSpPr/>
          <p:nvPr/>
        </p:nvSpPr>
        <p:spPr>
          <a:xfrm>
            <a:off x="587725" y="2276726"/>
            <a:ext cx="2540000" cy="381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571" y="3224138"/>
            <a:ext cx="3196820" cy="3196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1246967"/>
            <a:ext cx="2564611" cy="2564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5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84496">
            <a:off x="5038284" y="1649379"/>
            <a:ext cx="2422714" cy="2422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7725" y="2529273"/>
            <a:ext cx="101600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</a:t>
            </a:r>
            <a:r>
              <a:rPr lang="ko-KR" altLang="en-US" sz="44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어떻게</a:t>
            </a:r>
            <a:r>
              <a:rPr lang="ko-KR" altLang="en-US" sz="4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남아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재생산</a:t>
            </a:r>
            <a:r>
              <a:rPr lang="ko-KR" alt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되는가</a:t>
            </a:r>
            <a:r>
              <a:rPr lang="en-US" altLang="ko-KR" sz="4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사회에서 언어로</a:t>
            </a:r>
            <a:r>
              <a:rPr lang="en-US" altLang="ko-KR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언어에서 </a:t>
            </a:r>
            <a:r>
              <a:rPr lang="en-US" altLang="ko-KR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</a:t>
            </a:r>
            <a:r>
              <a:rPr lang="ko-KR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로</a:t>
            </a:r>
            <a:endParaRPr sz="2400" b="1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00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배경 </a:t>
            </a:r>
            <a:r>
              <a:rPr lang="en-US" altLang="ko-KR" sz="200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: </a:t>
            </a:r>
            <a:r>
              <a:rPr lang="ko-KR" altLang="en-US" sz="200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우리는 혐오를 감정으로 이해해왔다</a:t>
            </a:r>
            <a:endParaRPr sz="2000" b="1" i="0" dirty="0">
              <a:solidFill>
                <a:srgbClr val="D98793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 err="1">
                <a:solidFill>
                  <a:srgbClr val="D98793"/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 err="1">
                <a:solidFill>
                  <a:srgbClr val="9A9A9A"/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1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0" y="880534"/>
            <a:ext cx="11633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400" b="0" i="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우리는</a:t>
            </a:r>
            <a:r>
              <a:rPr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40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지금을</a:t>
            </a:r>
            <a:r>
              <a:rPr sz="140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‘</a:t>
            </a:r>
            <a:r>
              <a:rPr sz="140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혐오의</a:t>
            </a:r>
            <a:r>
              <a:rPr sz="140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40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시대’라</a:t>
            </a:r>
            <a:r>
              <a:rPr sz="140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부</a:t>
            </a:r>
            <a:r>
              <a:rPr lang="ko-KR" altLang="en-US" sz="140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른다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이제 혐오는 개인의 감정을 넘어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사회를 움직이는 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정동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으로 이해되어왔다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40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" y="1752600"/>
            <a:ext cx="5384800" cy="2159643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1000" y="1917700"/>
            <a:ext cx="50800" cy="215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700" y="18923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사전적 의미의 혐오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1000" y="2235200"/>
            <a:ext cx="4953000" cy="1016000"/>
          </a:xfrm>
          <a:prstGeom prst="roundRect">
            <a:avLst>
              <a:gd name="adj" fmla="val 5000"/>
            </a:avLst>
          </a:prstGeom>
          <a:solidFill>
            <a:srgbClr val="ECE7DE"/>
          </a:solidFill>
          <a:ln w="12700">
            <a:solidFill>
              <a:srgbClr val="CFC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2349500"/>
            <a:ext cx="381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0" dirty="0" err="1">
                <a:solidFill>
                  <a:srgbClr val="888888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표준국어대사전</a:t>
            </a:r>
            <a:endParaRPr sz="1100" i="0" dirty="0">
              <a:solidFill>
                <a:srgbClr val="888888"/>
              </a:solidFill>
              <a:latin typeface="바탕" panose="02030600000101010101" pitchFamily="18" charset="-127"/>
              <a:ea typeface="문체부 제목 바탕체" panose="02030609000101010101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1800" y="2544200"/>
            <a:ext cx="381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i="0" dirty="0" err="1">
                <a:solidFill>
                  <a:srgbClr val="2B2B2B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혐오</a:t>
            </a:r>
            <a:r>
              <a:rPr sz="2400" i="0" dirty="0">
                <a:solidFill>
                  <a:srgbClr val="2B2B2B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 </a:t>
            </a:r>
            <a:r>
              <a:rPr lang="en-US" sz="2400" i="0" dirty="0" smtClean="0">
                <a:solidFill>
                  <a:srgbClr val="2B2B2B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(</a:t>
            </a:r>
            <a:r>
              <a:rPr sz="2400" i="0" dirty="0" err="1" smtClean="0">
                <a:solidFill>
                  <a:srgbClr val="2B2B2B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嫌惡</a:t>
            </a:r>
            <a:r>
              <a:rPr lang="en-US" sz="2400" i="0" dirty="0" smtClean="0">
                <a:solidFill>
                  <a:srgbClr val="2B2B2B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)</a:t>
            </a:r>
            <a:endParaRPr sz="2400" i="0" dirty="0">
              <a:solidFill>
                <a:srgbClr val="2B2B2B"/>
              </a:solidFill>
              <a:latin typeface="바탕" panose="02030600000101010101" pitchFamily="18" charset="-127"/>
              <a:ea typeface="문체부 제목 바탕체" panose="02030609000101010101" pitchFamily="17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00" y="2942600"/>
            <a:ext cx="508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 dirty="0" err="1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미워하고</a:t>
            </a:r>
            <a:r>
              <a:rPr sz="1400" i="0" dirty="0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 </a:t>
            </a:r>
            <a:r>
              <a:rPr sz="1400" i="0" dirty="0" err="1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꺼림</a:t>
            </a:r>
            <a:r>
              <a:rPr sz="1400" i="0" dirty="0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. </a:t>
            </a:r>
            <a:r>
              <a:rPr sz="1400" i="0" dirty="0" err="1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싫어하고</a:t>
            </a:r>
            <a:r>
              <a:rPr sz="1400" i="0" dirty="0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 </a:t>
            </a:r>
            <a:r>
              <a:rPr sz="1400" i="0" dirty="0" err="1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미워함</a:t>
            </a:r>
            <a:r>
              <a:rPr sz="1400" i="0" dirty="0">
                <a:solidFill>
                  <a:srgbClr val="555555"/>
                </a:solidFill>
                <a:latin typeface="바탕" panose="02030600000101010101" pitchFamily="18" charset="-127"/>
                <a:ea typeface="문체부 제목 바탕체" panose="02030609000101010101" pitchFamily="17" charset="-127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725" y="3429000"/>
            <a:ext cx="54737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미워하는 마음</a:t>
            </a:r>
            <a:r>
              <a:rPr lang="en-US" altLang="ko-KR"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→ </a:t>
            </a:r>
            <a:r>
              <a:rPr sz="1400" b="0" i="0" dirty="0" err="1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개인</a:t>
            </a: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의 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“</a:t>
            </a:r>
            <a:r>
              <a:rPr lang="ko-KR" altLang="en-US"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감정</a:t>
            </a:r>
            <a:r>
              <a:rPr lang="en-US" altLang="ko-KR"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”</a:t>
            </a:r>
            <a:endParaRPr sz="1400" b="0" i="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43650" y="1752600"/>
            <a:ext cx="5619750" cy="2159643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5300" y="1917700"/>
            <a:ext cx="50800" cy="215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5000" y="18923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2B2B2B"/>
                </a:solidFill>
                <a:latin typeface="Gmarket Sans TTF Bold"/>
              </a:rPr>
              <a:t>‘</a:t>
            </a:r>
            <a:r>
              <a:rPr sz="1500" b="1" i="0" dirty="0" err="1">
                <a:solidFill>
                  <a:srgbClr val="2B2B2B"/>
                </a:solidFill>
                <a:latin typeface="Gmarket Sans TTF Bold"/>
              </a:rPr>
              <a:t>시대’를</a:t>
            </a:r>
            <a:r>
              <a:rPr sz="1500" b="1" i="0" dirty="0">
                <a:solidFill>
                  <a:srgbClr val="2B2B2B"/>
                </a:solidFill>
                <a:latin typeface="Gmarket Sans TTF Bold"/>
              </a:rPr>
              <a:t> </a:t>
            </a:r>
            <a:r>
              <a:rPr sz="1500" b="1" i="0" dirty="0" err="1">
                <a:solidFill>
                  <a:srgbClr val="2B2B2B"/>
                </a:solidFill>
                <a:latin typeface="Gmarket Sans TTF Bold"/>
              </a:rPr>
              <a:t>뒤덮은</a:t>
            </a:r>
            <a:r>
              <a:rPr sz="1500" b="1" i="0" dirty="0">
                <a:solidFill>
                  <a:srgbClr val="2B2B2B"/>
                </a:solidFill>
                <a:latin typeface="Gmarket Sans TTF Bold"/>
              </a:rPr>
              <a:t> </a:t>
            </a:r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55900" y="4751075"/>
            <a:ext cx="6680200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이제 개인의 감정을 넘어</a:t>
            </a:r>
            <a:r>
              <a:rPr lang="en-US" altLang="ko-KR" sz="2800" b="1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</a:p>
          <a:p>
            <a:pPr algn="ctr"/>
            <a:r>
              <a:rPr lang="ko-KR" altLang="en-US" sz="3200" b="1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 사회를 뒤덮은 현상이 되었다</a:t>
            </a:r>
            <a:r>
              <a:rPr lang="en-US" altLang="ko-KR" sz="3200" b="1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4433" y="3633244"/>
            <a:ext cx="6680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dirty="0" err="1">
                <a:solidFill>
                  <a:schemeClr val="bg1">
                    <a:lumMod val="50000"/>
                  </a:schemeClr>
                </a:solidFill>
                <a:latin typeface="Gmarket Sans TTF Light"/>
              </a:rPr>
              <a:t>손희정</a:t>
            </a:r>
            <a:r>
              <a:rPr sz="1050" b="0" i="0" dirty="0">
                <a:solidFill>
                  <a:schemeClr val="bg1">
                    <a:lumMod val="50000"/>
                  </a:schemeClr>
                </a:solidFill>
                <a:latin typeface="Gmarket Sans TTF Light"/>
              </a:rPr>
              <a:t>(2015) · </a:t>
            </a:r>
            <a:r>
              <a:rPr sz="1050" b="0" i="0" dirty="0" err="1">
                <a:solidFill>
                  <a:schemeClr val="bg1">
                    <a:lumMod val="50000"/>
                  </a:schemeClr>
                </a:solidFill>
                <a:latin typeface="Gmarket Sans TTF Light"/>
              </a:rPr>
              <a:t>강준만</a:t>
            </a:r>
            <a:r>
              <a:rPr sz="1050" b="0" i="0" dirty="0">
                <a:solidFill>
                  <a:schemeClr val="bg1">
                    <a:lumMod val="50000"/>
                  </a:schemeClr>
                </a:solidFill>
                <a:latin typeface="Gmarket Sans TTF Light"/>
              </a:rPr>
              <a:t>(</a:t>
            </a:r>
            <a:r>
              <a:rPr sz="1050" b="0" i="0" dirty="0" smtClean="0">
                <a:solidFill>
                  <a:schemeClr val="bg1">
                    <a:lumMod val="50000"/>
                  </a:schemeClr>
                </a:solidFill>
                <a:latin typeface="Gmarket Sans TTF Light"/>
              </a:rPr>
              <a:t>2024)</a:t>
            </a:r>
            <a:endParaRPr sz="1050" b="0" i="0" dirty="0">
              <a:solidFill>
                <a:schemeClr val="bg1">
                  <a:lumMod val="50000"/>
                </a:schemeClr>
              </a:solidFill>
              <a:latin typeface="Gmarket Sans TTF Light"/>
            </a:endParaRPr>
          </a:p>
        </p:txBody>
      </p:sp>
      <p:sp>
        <p:nvSpPr>
          <p:cNvPr id="32" name="Right Arrow 21"/>
          <p:cNvSpPr/>
          <p:nvPr/>
        </p:nvSpPr>
        <p:spPr>
          <a:xfrm>
            <a:off x="5697123" y="2566616"/>
            <a:ext cx="548268" cy="986264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6815" y="2346104"/>
            <a:ext cx="54737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 감정이 사회 규모로 모여 </a:t>
            </a: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확장된다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성별도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지역도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이념도 각기 다른 사람들이 모인다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의견이 갈리고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갈등이 깊어지면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쌓인 불안과 경쟁이 약자를 향한 미움으로 이어진다</a:t>
            </a:r>
            <a:r>
              <a:rPr lang="en-US" altLang="ko-KR" sz="14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</a:t>
            </a:r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는</a:t>
            </a:r>
            <a:r>
              <a:rPr 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 사회에</a:t>
            </a:r>
            <a:r>
              <a:rPr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2000" b="1" i="0" dirty="0" err="1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실재</a:t>
            </a:r>
            <a:r>
              <a:rPr lang="ko-KR" altLang="en-US" sz="2000" b="1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하고 있</a:t>
            </a:r>
            <a:r>
              <a:rPr lang="ko-KR" altLang="en-US" sz="2000" b="1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</a:t>
            </a:r>
            <a:r>
              <a:rPr lang="en-US" altLang="ko-KR" sz="2000" b="1" i="0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2000" b="1" i="0" dirty="0">
              <a:solidFill>
                <a:srgbClr val="D19BA1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 err="1">
                <a:solidFill>
                  <a:srgbClr val="D98793"/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 err="1">
                <a:solidFill>
                  <a:srgbClr val="9A9A9A"/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0" y="909900"/>
            <a:ext cx="1163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사람들은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 </a:t>
            </a:r>
            <a:r>
              <a:rPr lang="ko-KR" altLang="en-US"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사회의 </a:t>
            </a:r>
            <a:r>
              <a:rPr sz="1400" b="0" i="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갈등과</a:t>
            </a:r>
            <a:r>
              <a:rPr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400" b="0" i="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혐오표현</a:t>
            </a:r>
            <a:r>
              <a:rPr lang="ko-KR" altLang="en-US"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 대해 어떻게 인식하고</a:t>
            </a:r>
            <a:r>
              <a:rPr lang="en-US" altLang="ko-KR"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경험하고 있을까</a:t>
            </a:r>
            <a:r>
              <a:rPr lang="en-US" altLang="ko-KR" sz="14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?</a:t>
            </a:r>
            <a:endParaRPr sz="1400" b="0" i="0" dirty="0">
              <a:solidFill>
                <a:srgbClr val="EDEDED"/>
              </a:solidFill>
              <a:latin typeface="Gmarket Sans TTF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" y="1498600"/>
            <a:ext cx="11734800" cy="315040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339328" y="1676400"/>
            <a:ext cx="0" cy="2692400"/>
          </a:xfrm>
          <a:prstGeom prst="bentConnector3">
            <a:avLst/>
          </a:prstGeom>
          <a:ln w="1270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800" y="166370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372" y="1674396"/>
            <a:ext cx="37678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한국 </a:t>
            </a:r>
            <a:r>
              <a:rPr lang="ko-KR" altLang="en-US" sz="14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사회 갈등</a:t>
            </a:r>
            <a:r>
              <a:rPr lang="en-US" altLang="ko-KR" sz="14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14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얼마나 심각하게 </a:t>
            </a:r>
            <a:r>
              <a:rPr lang="ko-KR" altLang="en-US" sz="14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인식되고 있나</a:t>
            </a:r>
            <a:endParaRPr sz="14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15" name="Picture 14" descr="fig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64442"/>
            <a:ext cx="3466707" cy="20868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5652" y="4140944"/>
            <a:ext cx="306109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“</a:t>
            </a:r>
            <a:r>
              <a:rPr lang="ko-KR" altLang="en-US" sz="12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사람들은 한국 사회의 균열을 여러 축에서 심각하게 </a:t>
            </a:r>
            <a:r>
              <a:rPr lang="ko-KR" altLang="en-US" sz="1200" dirty="0" smtClean="0">
                <a:solidFill>
                  <a:schemeClr val="accent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인식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하고 있었다</a:t>
            </a:r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.”</a:t>
            </a:r>
            <a:endParaRPr sz="1200" b="0" i="0" dirty="0">
              <a:solidFill>
                <a:srgbClr val="555555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28872" y="166370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6540" y="1686428"/>
            <a:ext cx="533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접촉한 혐오표현은 </a:t>
            </a:r>
            <a:r>
              <a:rPr lang="ko-KR" altLang="en-US" sz="14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어떤 표적을 향했나</a:t>
            </a:r>
            <a:endParaRPr sz="14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19" name="Picture 18" descr="fig2-2_contact.png"/>
          <p:cNvPicPr>
            <a:picLocks noChangeAspect="1"/>
          </p:cNvPicPr>
          <p:nvPr/>
        </p:nvPicPr>
        <p:blipFill rotWithShape="1">
          <a:blip r:embed="rId4"/>
          <a:srcRect t="17865" b="15904"/>
          <a:stretch/>
        </p:blipFill>
        <p:spPr>
          <a:xfrm>
            <a:off x="4419539" y="2117194"/>
            <a:ext cx="2513996" cy="1934116"/>
          </a:xfrm>
          <a:prstGeom prst="rect">
            <a:avLst/>
          </a:prstGeom>
        </p:spPr>
      </p:pic>
      <p:pic>
        <p:nvPicPr>
          <p:cNvPr id="20" name="Picture 19" descr="fig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147" y="2081972"/>
            <a:ext cx="3115428" cy="206470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91200" y="4184134"/>
            <a:ext cx="404267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“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절반 이상이 </a:t>
            </a:r>
            <a:r>
              <a:rPr lang="ko-KR" altLang="en-US" sz="12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지난 </a:t>
            </a:r>
            <a:r>
              <a:rPr lang="en-US" altLang="ko-KR" sz="12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1</a:t>
            </a:r>
            <a:r>
              <a:rPr lang="ko-KR" altLang="en-US" sz="12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년 내 혐오표현을 </a:t>
            </a:r>
            <a:r>
              <a:rPr lang="ko-KR" altLang="en-US" sz="1200" dirty="0" smtClean="0">
                <a:solidFill>
                  <a:schemeClr val="accent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경험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했다</a:t>
            </a:r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.”</a:t>
            </a:r>
            <a:endParaRPr sz="1200" i="0" dirty="0">
              <a:solidFill>
                <a:srgbClr val="555555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05086" y="4267200"/>
            <a:ext cx="284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“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표적은 </a:t>
            </a:r>
            <a:r>
              <a:rPr lang="ko-KR" altLang="en-US" sz="12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흩어지지 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않고 </a:t>
            </a:r>
            <a:r>
              <a:rPr lang="ko-KR" altLang="en-US" sz="1200" dirty="0" smtClean="0">
                <a:solidFill>
                  <a:schemeClr val="accent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반복</a:t>
            </a:r>
            <a:r>
              <a:rPr lang="ko-KR" altLang="en-US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되어 왔다</a:t>
            </a:r>
            <a:r>
              <a:rPr lang="en-US" altLang="ko-KR" sz="12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.”</a:t>
            </a:r>
            <a:endParaRPr sz="1200" b="0" i="0" dirty="0">
              <a:solidFill>
                <a:srgbClr val="555555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65907" y="5021022"/>
            <a:ext cx="929379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한국 사회의 혐오는 우리에게</a:t>
            </a:r>
            <a:endParaRPr lang="en-US" altLang="ko-KR" sz="2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인식’하고</a:t>
            </a:r>
            <a:r>
              <a:rPr lang="en-US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‘</a:t>
            </a:r>
            <a:r>
              <a:rPr lang="ko-KR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경험’하고</a:t>
            </a:r>
            <a:r>
              <a:rPr lang="en-US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en-US" altLang="ko-K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반복</a:t>
            </a:r>
            <a:r>
              <a:rPr lang="en-US" altLang="ko-K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</a:t>
            </a:r>
            <a:r>
              <a:rPr lang="ko-KR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되는 </a:t>
            </a:r>
            <a:r>
              <a:rPr lang="ko-KR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표적으로 </a:t>
            </a:r>
            <a:r>
              <a:rPr lang="ko-KR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오랫동안 남아왔다</a:t>
            </a:r>
            <a:r>
              <a:rPr lang="en-US" altLang="ko-K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2400" b="1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7" name="Rectangle 16"/>
          <p:cNvSpPr/>
          <p:nvPr/>
        </p:nvSpPr>
        <p:spPr>
          <a:xfrm>
            <a:off x="4551880" y="169578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59620" y="1695112"/>
            <a:ext cx="35298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지난 </a:t>
            </a:r>
            <a:r>
              <a:rPr lang="en-US" altLang="ko-KR" sz="1400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1</a:t>
            </a:r>
            <a:r>
              <a:rPr lang="ko-KR" altLang="en-US" sz="1400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년 </a:t>
            </a:r>
            <a:r>
              <a:rPr sz="1400" i="0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혐오표현</a:t>
            </a:r>
            <a:r>
              <a:rPr sz="1400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400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접촉 경험</a:t>
            </a:r>
            <a:endParaRPr sz="1400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cxnSp>
        <p:nvCxnSpPr>
          <p:cNvPr id="29" name="Connector 11"/>
          <p:cNvCxnSpPr/>
          <p:nvPr/>
        </p:nvCxnSpPr>
        <p:spPr>
          <a:xfrm>
            <a:off x="8247250" y="1638300"/>
            <a:ext cx="0" cy="2692400"/>
          </a:xfrm>
          <a:prstGeom prst="bentConnector3">
            <a:avLst/>
          </a:prstGeom>
          <a:ln w="1270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18" descr="fig2-2_contact.png"/>
          <p:cNvPicPr>
            <a:picLocks noChangeAspect="1"/>
          </p:cNvPicPr>
          <p:nvPr/>
        </p:nvPicPr>
        <p:blipFill rotWithShape="1">
          <a:blip r:embed="rId4"/>
          <a:srcRect b="83349"/>
          <a:stretch/>
        </p:blipFill>
        <p:spPr>
          <a:xfrm>
            <a:off x="6656219" y="2235200"/>
            <a:ext cx="1332081" cy="667922"/>
          </a:xfrm>
          <a:prstGeom prst="rect">
            <a:avLst/>
          </a:prstGeom>
        </p:spPr>
      </p:pic>
      <p:sp>
        <p:nvSpPr>
          <p:cNvPr id="33" name="AutoShape 2" descr="이미지 미리 보기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AutoShape 4" descr="이미지 미리 보기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5" name="AutoShape 6" descr="이미지 미리 보기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7" name="AutoShape 10" descr="이미지 미리 보기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8" name="AutoShape 12" descr="이미지 미리 보기"/>
          <p:cNvSpPr>
            <a:spLocks noChangeAspect="1" noChangeArrowheads="1"/>
          </p:cNvSpPr>
          <p:nvPr/>
        </p:nvSpPr>
        <p:spPr bwMode="auto">
          <a:xfrm>
            <a:off x="7778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9" name="Picture 18" descr="fig2-2_contact.png"/>
          <p:cNvPicPr>
            <a:picLocks noChangeAspect="1"/>
          </p:cNvPicPr>
          <p:nvPr/>
        </p:nvPicPr>
        <p:blipFill rotWithShape="1">
          <a:blip r:embed="rId4"/>
          <a:srcRect l="7034" t="6428" r="85925" b="89676"/>
          <a:stretch/>
        </p:blipFill>
        <p:spPr>
          <a:xfrm>
            <a:off x="6809118" y="2374900"/>
            <a:ext cx="1052182" cy="29595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57819" y="2421277"/>
            <a:ext cx="1205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전체 중 </a:t>
            </a:r>
            <a:r>
              <a:rPr lang="en-US" altLang="ko-KR" sz="1100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‘57 %’</a:t>
            </a:r>
            <a:endParaRPr lang="ko-KR" altLang="en-US" sz="1100" dirty="0">
              <a:solidFill>
                <a:schemeClr val="bg1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42" name="Picture 18" descr="fig2-2_contact.png"/>
          <p:cNvPicPr>
            <a:picLocks noChangeAspect="1"/>
          </p:cNvPicPr>
          <p:nvPr/>
        </p:nvPicPr>
        <p:blipFill rotWithShape="1">
          <a:blip r:embed="rId4"/>
          <a:srcRect l="27658" t="93817" b="1"/>
          <a:stretch/>
        </p:blipFill>
        <p:spPr>
          <a:xfrm>
            <a:off x="6042613" y="3920813"/>
            <a:ext cx="1818687" cy="1805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같은 혐오</a:t>
            </a:r>
            <a:r>
              <a:rPr lang="en-US" altLang="ko-KR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다른 표적</a:t>
            </a:r>
            <a:r>
              <a:rPr lang="en-US" altLang="ko-KR" sz="2000" b="1" dirty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200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- </a:t>
            </a:r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그 사회의 </a:t>
            </a:r>
            <a:r>
              <a:rPr lang="ko-KR" altLang="en-US" sz="2000" b="1" i="0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</a:t>
            </a:r>
            <a:r>
              <a:rPr lang="ko-KR" altLang="en-US" sz="2000" b="1" i="0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를 따라간다</a:t>
            </a:r>
            <a:endParaRPr sz="2000" b="1" i="0" dirty="0">
              <a:solidFill>
                <a:srgbClr val="FFFFFF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9A9A"/>
                </a:solidFill>
                <a:latin typeface="Gmarket Sans TTF Medium"/>
              </a:rPr>
              <a:t>사회 → </a:t>
            </a:r>
            <a:r>
              <a:rPr sz="1150" b="0" i="0">
                <a:solidFill>
                  <a:srgbClr val="D98793"/>
                </a:solidFill>
                <a:latin typeface="Gmarket Sans TTF Medium"/>
              </a:rPr>
              <a:t>언어</a:t>
            </a:r>
            <a:r>
              <a:rPr sz="1150" b="0" i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3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872052"/>
            <a:ext cx="11734800" cy="812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993003"/>
            <a:ext cx="117983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혐오표현</a:t>
            </a:r>
            <a:r>
              <a:rPr sz="1600" b="1" i="0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1600" b="1" i="0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접촉의</a:t>
            </a:r>
            <a:r>
              <a:rPr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sz="16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3200" b="1" i="0" dirty="0" smtClean="0">
                <a:solidFill>
                  <a:srgbClr val="C868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70.3%</a:t>
            </a:r>
            <a:r>
              <a:rPr lang="en-US" sz="2800" b="1" i="0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600" b="1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는</a:t>
            </a:r>
            <a:r>
              <a:rPr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b="1" i="0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온라인</a:t>
            </a:r>
            <a:r>
              <a:rPr sz="1600" b="1" i="0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에서</a:t>
            </a:r>
            <a:r>
              <a:rPr lang="en-US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경험되</a:t>
            </a:r>
            <a:r>
              <a:rPr lang="ko-KR" altLang="en-US" sz="16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고 있</a:t>
            </a:r>
            <a:r>
              <a:rPr lang="ko-KR" altLang="en-US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었다</a:t>
            </a:r>
            <a:r>
              <a:rPr lang="en-US" altLang="ko-KR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sz="1600" b="1" i="0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sz="800" b="1" i="0" dirty="0" err="1" smtClean="0">
                <a:solidFill>
                  <a:schemeClr val="bg1">
                    <a:lumMod val="6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인권의식</a:t>
            </a:r>
            <a:r>
              <a:rPr sz="800" b="1" i="0" dirty="0" smtClean="0">
                <a:solidFill>
                  <a:schemeClr val="bg1">
                    <a:lumMod val="6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 </a:t>
            </a:r>
            <a:r>
              <a:rPr lang="ko-KR" altLang="en-US" sz="800" b="1" i="0" dirty="0" smtClean="0">
                <a:solidFill>
                  <a:schemeClr val="bg1">
                    <a:lumMod val="6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실태조사</a:t>
            </a:r>
            <a:r>
              <a:rPr sz="800" b="1" i="0" dirty="0" smtClean="0">
                <a:solidFill>
                  <a:schemeClr val="bg1">
                    <a:lumMod val="6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2020–24</a:t>
            </a:r>
            <a:endParaRPr sz="800" b="1" i="0" dirty="0">
              <a:solidFill>
                <a:schemeClr val="bg1">
                  <a:lumMod val="65000"/>
                </a:schemeClr>
              </a:solidFill>
              <a:latin typeface="Gmarket Sans TTF Light" panose="02000000000000000000" pitchFamily="2" charset="-127"/>
              <a:ea typeface="Gmarket Sans TTF Light" panose="02000000000000000000" pitchFamily="2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47263" y="2533142"/>
            <a:ext cx="5086500" cy="2260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99663" y="2698242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9363" y="2672842"/>
            <a:ext cx="5334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영어</a:t>
            </a:r>
            <a:r>
              <a:rPr lang="ko-KR" altLang="en-US" sz="16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권</a:t>
            </a:r>
            <a:r>
              <a:rPr lang="ko-KR" altLang="en-US" sz="16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6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SNS</a:t>
            </a:r>
            <a:r>
              <a:rPr lang="en-US" altLang="ko-KR" sz="16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 (</a:t>
            </a:r>
            <a:r>
              <a:rPr lang="en-US" altLang="ko-KR" sz="1600" dirty="0" err="1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Twitter·Gab</a:t>
            </a:r>
            <a:r>
              <a:rPr lang="en-US" altLang="ko-KR" sz="16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 </a:t>
            </a:r>
            <a:r>
              <a:rPr lang="en-US" altLang="ko-KR" sz="14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· </a:t>
            </a:r>
            <a:r>
              <a:rPr lang="en-US" altLang="ko-KR" sz="1400" dirty="0" err="1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HateXplain</a:t>
            </a:r>
            <a:endParaRPr lang="en-US" altLang="ko-KR" sz="1400" dirty="0" smtClean="0"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Twitter·Gab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 ·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영어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댓글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20,148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개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(Mathew 2021)</a:t>
            </a:r>
            <a:endParaRPr sz="1200" b="1" i="0" dirty="0">
              <a:solidFill>
                <a:schemeClr val="tx1">
                  <a:lumMod val="65000"/>
                  <a:lumOff val="35000"/>
                </a:schemeClr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5063" y="3339246"/>
            <a:ext cx="5334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인종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·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종교 정체성이 </a:t>
            </a:r>
            <a:endParaRPr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혐오의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중심 표적으로 나타났다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1400" b="1" i="0" dirty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9663" y="4169446"/>
            <a:ext cx="4347411" cy="37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“the top three </a:t>
            </a:r>
            <a:r>
              <a:rPr sz="1050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communities</a:t>
            </a:r>
            <a:endParaRPr lang="en-US" sz="1050" b="0" i="0" dirty="0" smtClean="0">
              <a:solidFill>
                <a:schemeClr val="tx1">
                  <a:lumMod val="85000"/>
                  <a:lumOff val="15000"/>
                </a:schemeClr>
              </a:solidFill>
              <a:latin typeface="Gmarket Sans TTF Light" panose="02000000000000000000" pitchFamily="2" charset="-127"/>
              <a:ea typeface="Gmarket Sans TTF Light" panose="02000000000000000000" pitchFamily="2" charset="-127"/>
            </a:endParaRPr>
          </a:p>
          <a:p>
            <a:pPr>
              <a:lnSpc>
                <a:spcPct val="115000"/>
              </a:lnSpc>
            </a:pPr>
            <a:r>
              <a:rPr sz="1050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 </a:t>
            </a:r>
            <a:r>
              <a:rPr sz="105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… African, Islam, and Jewish community” </a:t>
            </a:r>
            <a:endParaRPr lang="en-US" sz="1050" b="0" i="0" dirty="0" smtClean="0">
              <a:solidFill>
                <a:schemeClr val="tx1">
                  <a:lumMod val="85000"/>
                  <a:lumOff val="15000"/>
                </a:schemeClr>
              </a:solidFill>
              <a:latin typeface="Gmarket Sans TTF Light" panose="02000000000000000000" pitchFamily="2" charset="-127"/>
              <a:ea typeface="Gmarket Sans TTF Light" panose="02000000000000000000" pitchFamily="2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8600" y="2533143"/>
            <a:ext cx="5215467" cy="2260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868" y="2698243"/>
            <a:ext cx="48232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30" y="2672843"/>
            <a:ext cx="506436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 err="1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한국</a:t>
            </a:r>
            <a:r>
              <a:rPr sz="1600" b="1" i="0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SNS </a:t>
            </a:r>
            <a:r>
              <a:rPr lang="en-US" altLang="ko-KR" sz="1600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 · </a:t>
            </a:r>
            <a:r>
              <a:rPr lang="en-US" altLang="ko-KR" sz="1400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KOLD</a:t>
            </a:r>
          </a:p>
          <a:p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NAVER 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뉴스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·YouTube 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한국어 </a:t>
            </a:r>
            <a:r>
              <a:rPr lang="ko-KR" altLang="en-US" sz="1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댓글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40,429</a:t>
            </a:r>
            <a:r>
              <a:rPr lang="ko-KR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개 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en-US" altLang="ko-KR" sz="1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Jeong</a:t>
            </a:r>
            <a:r>
              <a:rPr lang="en-US" altLang="ko-K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2022)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 </a:t>
            </a:r>
            <a:endParaRPr sz="1200" b="1" i="0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4950" y="3304495"/>
            <a:ext cx="518494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젠더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·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성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그리고 이념적 집단이 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혐오의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중심축으로 나타났다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1400" b="1" i="0" dirty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0100" y="4988775"/>
            <a:ext cx="116568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결국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000" b="1" dirty="0" smtClean="0">
                <a:solidFill>
                  <a:srgbClr val="D19B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</a:t>
            </a:r>
            <a:r>
              <a:rPr lang="ko-KR" altLang="en-US" sz="2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로 행해진다</a:t>
            </a:r>
            <a:r>
              <a:rPr lang="en-US" altLang="ko-KR" sz="20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</a:p>
          <a:p>
            <a:pPr algn="ctr"/>
            <a:r>
              <a:rPr lang="en-US" altLang="ko-KR" sz="7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en-US" altLang="ko-KR" sz="7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Butler, Excitable Speech)</a:t>
            </a:r>
            <a:r>
              <a:rPr lang="en-US" altLang="ko-KR" sz="7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 </a:t>
            </a:r>
          </a:p>
          <a:p>
            <a:pPr algn="ctr"/>
            <a:r>
              <a:rPr lang="ko-KR" altLang="en-US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그리고 그 언어는 사회마다 다르다</a:t>
            </a:r>
            <a:r>
              <a:rPr lang="en-US" altLang="ko-KR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lang="en-US" altLang="ko-KR" sz="2800" dirty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 </a:t>
            </a:r>
            <a:r>
              <a:rPr lang="en-US" altLang="ko-KR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</a:p>
          <a:p>
            <a:pPr algn="ctr"/>
            <a:r>
              <a:rPr lang="ko-KR" altLang="en-US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문화와 언어에 깊이 의존한다</a:t>
            </a:r>
            <a:r>
              <a:rPr lang="en-US" altLang="ko-KR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lang="en-US" altLang="ko-KR" sz="3200" dirty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altLang="ko-KR" sz="3200" dirty="0" smtClean="0">
              <a:solidFill>
                <a:srgbClr val="EBD5D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en-US" altLang="ko-KR" sz="90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Jeong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et al. 2022)</a:t>
            </a:r>
          </a:p>
        </p:txBody>
      </p:sp>
      <p:sp>
        <p:nvSpPr>
          <p:cNvPr id="31" name="부등호 30"/>
          <p:cNvSpPr/>
          <p:nvPr/>
        </p:nvSpPr>
        <p:spPr>
          <a:xfrm>
            <a:off x="5583550" y="3224094"/>
            <a:ext cx="1088400" cy="680380"/>
          </a:xfrm>
          <a:prstGeom prst="mathNotEqual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6198" y="4169447"/>
            <a:ext cx="4619202" cy="38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“</a:t>
            </a:r>
            <a:r>
              <a:rPr lang="en-US" altLang="ko-KR" sz="1100" dirty="0" smtClean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"The </a:t>
            </a:r>
            <a:r>
              <a:rPr lang="en-US" altLang="ko-KR" sz="1100" dirty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three most frequently targeted group characteristics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… </a:t>
            </a:r>
            <a:r>
              <a:rPr lang="en-US" altLang="ko-KR" sz="1100" dirty="0" smtClean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are </a:t>
            </a:r>
            <a:r>
              <a:rPr lang="en-US" altLang="ko-KR" sz="1100" dirty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Feminist, LGBTQ+, and </a:t>
            </a:r>
            <a:r>
              <a:rPr lang="en-US" altLang="ko-KR" sz="1100" dirty="0" smtClean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Women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… </a:t>
            </a:r>
            <a:r>
              <a:rPr lang="en-US" altLang="ko-KR" sz="1100" dirty="0" smtClean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”</a:t>
            </a:r>
            <a:r>
              <a:rPr lang="en-US" altLang="ko-KR" sz="1100" dirty="0">
                <a:latin typeface="Gmarket Sans TTF Light" panose="02000000000000000000" pitchFamily="2" charset="-127"/>
                <a:ea typeface="Gmarket Sans TTF Light" panose="02000000000000000000" pitchFamily="2" charset="-127"/>
              </a:rPr>
              <a:t> </a:t>
            </a:r>
            <a:endParaRPr sz="1100" b="0" dirty="0">
              <a:solidFill>
                <a:schemeClr val="tx1">
                  <a:lumMod val="85000"/>
                  <a:lumOff val="15000"/>
                </a:schemeClr>
              </a:solidFill>
              <a:latin typeface="Gmarket Sans TTF Light" panose="02000000000000000000" pitchFamily="2" charset="-127"/>
              <a:ea typeface="Gmarket Sans TTF Light" panose="02000000000000000000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8600" y="1888945"/>
            <a:ext cx="11633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600" b="0" i="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 표현의 주 </a:t>
            </a:r>
            <a:r>
              <a:rPr lang="ko-KR" altLang="en-US" sz="160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매개 통로는 온라인이었다</a:t>
            </a:r>
            <a:r>
              <a:rPr sz="1600" b="0" i="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sz="1600" b="0" i="0" dirty="0" smtClean="0">
              <a:solidFill>
                <a:srgbClr val="EDEDED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160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하지만 이 혐오는 사회에 따라 </a:t>
            </a:r>
            <a:r>
              <a:rPr lang="ko-KR" altLang="en-US" sz="1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다른</a:t>
            </a:r>
            <a:r>
              <a:rPr lang="ko-KR" altLang="en-US" sz="160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모습으로 나타나고 있었다</a:t>
            </a:r>
            <a:r>
              <a:rPr lang="en-US" altLang="ko-KR" sz="160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1600" b="0" i="0" dirty="0">
              <a:solidFill>
                <a:srgbClr val="EDEDED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4098" name="Picture 2" descr="Gab - Free social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119" y="3491893"/>
            <a:ext cx="655053" cy="65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witter, Inc.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9299" y="3224094"/>
            <a:ext cx="672713" cy="55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YouTube - App on Amazon Appstor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5" t="37093" r="60971" b="38388"/>
          <a:stretch/>
        </p:blipFill>
        <p:spPr bwMode="auto">
          <a:xfrm>
            <a:off x="4478757" y="3164408"/>
            <a:ext cx="570162" cy="55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특징주] NAVER, “엔비디아와 협력?” 젠슨 황 네이버 사옥 방문 기대감에 주가 '급등' &lt; 시세/공시 &lt; 증권 &lt; 기사본문 -  와이드경제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036" y="3444398"/>
            <a:ext cx="1396721" cy="58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데이터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수집과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분석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설계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: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사회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→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언어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→ 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778356"/>
            <a:ext cx="118745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사회조사는 혐오가 한국 사회에서 인식되고 경험되는 현상임을 보여주었다</a:t>
            </a:r>
            <a:r>
              <a:rPr lang="en-US" altLang="ko-KR" sz="14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앞서 확인한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온라인 접촉률은 이 혐오를 언어 자료로 분석해야 하는 이유가 된다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→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이제 혐오가 사회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언어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AI </a:t>
            </a:r>
            <a:r>
              <a:rPr lang="ko-KR" altLang="en-US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각 층위에서 어떻게 남는지 분석한다</a:t>
            </a:r>
            <a:r>
              <a:rPr lang="en-US" altLang="ko-KR" sz="14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200" b="0" i="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56175" y="1638975"/>
            <a:ext cx="5969000" cy="711200"/>
          </a:xfrm>
          <a:prstGeom prst="roundRect">
            <a:avLst>
              <a:gd name="adj" fmla="val 12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06500" y="1576600"/>
            <a:ext cx="5969000" cy="71120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6500" y="1704725"/>
            <a:ext cx="5969000" cy="723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 dirty="0" err="1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사회</a:t>
            </a:r>
            <a:r>
              <a:rPr sz="1450" b="1" i="0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sz="1400" b="1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14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갈등과 혐오가 실재 </a:t>
            </a:r>
            <a:r>
              <a:rPr lang="ko-KR" altLang="en-US" dirty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✓</a:t>
            </a:r>
            <a:endParaRPr lang="ko-KR" altLang="en-US" dirty="0">
              <a:solidFill>
                <a:srgbClr val="555555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endParaRPr sz="1450" b="1" i="0" dirty="0">
              <a:solidFill>
                <a:srgbClr val="2B2B2B"/>
              </a:solidFill>
              <a:latin typeface="Gmarket Sans TTF 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78475" y="2604175"/>
            <a:ext cx="4724400" cy="711200"/>
          </a:xfrm>
          <a:prstGeom prst="roundRect">
            <a:avLst>
              <a:gd name="adj" fmla="val 12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28800" y="2541800"/>
            <a:ext cx="4724400" cy="711200"/>
          </a:xfrm>
          <a:prstGeom prst="roundRect">
            <a:avLst>
              <a:gd name="adj" fmla="val 12000"/>
            </a:avLst>
          </a:prstGeom>
          <a:solidFill>
            <a:schemeClr val="bg1">
              <a:lumMod val="75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2681500"/>
            <a:ext cx="472440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 dirty="0" err="1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</a:t>
            </a:r>
            <a:r>
              <a:rPr sz="1450" b="1" i="0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sz="1450" b="1" i="0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14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 표현은</a:t>
            </a:r>
            <a:r>
              <a:rPr lang="en-US" altLang="ko-KR" sz="14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  <a:r>
              <a:rPr sz="145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sz="145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00775" y="3569375"/>
            <a:ext cx="3479800" cy="711200"/>
          </a:xfrm>
          <a:prstGeom prst="roundRect">
            <a:avLst>
              <a:gd name="adj" fmla="val 12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451100" y="3507000"/>
            <a:ext cx="3479800" cy="711200"/>
          </a:xfrm>
          <a:prstGeom prst="roundRect">
            <a:avLst>
              <a:gd name="adj" fmla="val 12000"/>
            </a:avLst>
          </a:prstGeom>
          <a:solidFill>
            <a:schemeClr val="tx1">
              <a:lumMod val="75000"/>
              <a:lumOff val="25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51100" y="3646700"/>
            <a:ext cx="347980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 dirty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 </a:t>
            </a:r>
            <a:endParaRPr lang="en-US" sz="1450" b="1" i="0" dirty="0" smtClean="0">
              <a:solidFill>
                <a:srgbClr val="FFFFFF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145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학습되었나</a:t>
            </a:r>
            <a:r>
              <a:rPr lang="en-US" altLang="ko-KR" sz="145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  <a:endParaRPr sz="1450" b="1" i="0" dirty="0">
              <a:solidFill>
                <a:srgbClr val="FFFFFF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92000" y="1469291"/>
            <a:ext cx="4052750" cy="3646719"/>
          </a:xfrm>
          <a:prstGeom prst="roundRect">
            <a:avLst>
              <a:gd name="adj" fmla="val 5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47599" y="1586850"/>
            <a:ext cx="55517" cy="215900"/>
          </a:xfrm>
          <a:prstGeom prst="rect">
            <a:avLst/>
          </a:prstGeom>
          <a:solidFill>
            <a:srgbClr val="D9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8424" y="1596175"/>
            <a:ext cx="333102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데이터</a:t>
            </a:r>
            <a:r>
              <a:rPr lang="ko-KR" altLang="en-US" sz="1400" b="1" dirty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400" b="1" dirty="0" smtClean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수집</a:t>
            </a:r>
            <a:endParaRPr sz="1400" b="1" i="0" dirty="0">
              <a:solidFill>
                <a:srgbClr val="FFFFFF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46076" y="1866288"/>
            <a:ext cx="3469820" cy="1777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1)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사회통합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(2014-2024)·</a:t>
            </a:r>
            <a:r>
              <a:rPr lang="ko-KR" altLang="en-US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인권의식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실태조사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(2020-2024), </a:t>
            </a:r>
            <a:r>
              <a:rPr lang="ko-KR" altLang="en-US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한국행정연구원</a:t>
            </a:r>
            <a:r>
              <a:rPr lang="en-US" altLang="ko-KR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국가인권위원회</a:t>
            </a:r>
            <a:endParaRPr lang="ko-KR" altLang="en-US" sz="1100" dirty="0">
              <a:solidFill>
                <a:srgbClr val="FFFFFF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2) KOLD (Korean Offensive Language Dataset) - NAVER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뉴스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·YouTube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한국어 </a:t>
            </a:r>
            <a:r>
              <a:rPr lang="ko-KR" altLang="en-US" sz="1100" dirty="0" err="1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댓글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40,429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개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다중 주석자 합의 라벨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en-US" altLang="ko-KR" sz="1100" dirty="0" err="1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Jeong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2022),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3) KLUE-</a:t>
            </a:r>
            <a:r>
              <a:rPr lang="en-US" altLang="ko-KR" sz="1100" dirty="0" err="1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RoBERTa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(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한국어 코퍼스 기반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AI, </a:t>
            </a:r>
            <a:r>
              <a:rPr lang="en-US" altLang="ko-KR" sz="1100" dirty="0" err="1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Huggingface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endParaRPr lang="en-US" altLang="ko-KR" sz="1200" dirty="0">
              <a:solidFill>
                <a:srgbClr val="FFFFFF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41" name="AutoShape 11" descr="blob:https://gemini.google.com/a88b10b0-b43a-43aa-b7bd-a9b066eda705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2" name="AutoShape 13" descr="blob:https://gemini.google.com/a88b10b0-b43a-43aa-b7bd-a9b066eda705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3" name="AutoShape 15" descr="blob:https://gemini.google.com/a88b10b0-b43a-43aa-b7bd-a9b066eda705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AutoShape 17" descr="blob:https://gemini.google.com/a88b10b0-b43a-43aa-b7bd-a9b066eda705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8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62350" y="5025084"/>
            <a:ext cx="11582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EDEDED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</a:t>
            </a:r>
            <a:r>
              <a:rPr lang="ko-KR" altLang="en-US" sz="2800" dirty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온라인 언어와 </a:t>
            </a:r>
            <a:r>
              <a:rPr lang="en-US" altLang="ko-KR" sz="2800" dirty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</a:t>
            </a:r>
            <a:r>
              <a:rPr lang="ko-KR" altLang="en-US" sz="2800" dirty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에 어떤 형태로 남겨져 있을까</a:t>
            </a:r>
            <a:r>
              <a:rPr lang="en-US" altLang="ko-KR" sz="28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</a:p>
          <a:p>
            <a:pPr algn="ctr"/>
            <a:r>
              <a:rPr lang="ko-KR" altLang="en-US" dirty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 표현이 </a:t>
            </a:r>
            <a:r>
              <a:rPr lang="ko-KR" altLang="en-US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사회의 </a:t>
            </a:r>
            <a:r>
              <a:rPr lang="ko-KR" altLang="en-US" dirty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균열을 </a:t>
            </a:r>
            <a:r>
              <a:rPr lang="ko-KR" altLang="en-US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따라간다면</a:t>
            </a:r>
            <a:r>
              <a:rPr lang="en-US" altLang="ko-KR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  <a:r>
              <a:rPr lang="ko-KR" altLang="en-US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dirty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 </a:t>
            </a:r>
            <a:r>
              <a:rPr lang="ko-KR" altLang="en-US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안에는 규칙이 존재할지 모른다</a:t>
            </a:r>
            <a:r>
              <a:rPr lang="en-US" altLang="ko-KR" dirty="0" smtClean="0">
                <a:solidFill>
                  <a:srgbClr val="EDED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altLang="ko-KR" dirty="0">
              <a:solidFill>
                <a:srgbClr val="EDEDE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60" name="Rectangle 24"/>
          <p:cNvSpPr/>
          <p:nvPr/>
        </p:nvSpPr>
        <p:spPr>
          <a:xfrm>
            <a:off x="8119840" y="3835125"/>
            <a:ext cx="55517" cy="215900"/>
          </a:xfrm>
          <a:prstGeom prst="rect">
            <a:avLst/>
          </a:prstGeom>
          <a:solidFill>
            <a:srgbClr val="D9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직사각형 49"/>
          <p:cNvSpPr/>
          <p:nvPr/>
        </p:nvSpPr>
        <p:spPr>
          <a:xfrm>
            <a:off x="8176269" y="3744315"/>
            <a:ext cx="6096000" cy="11772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FFFFFF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방법론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log-odds</a:t>
            </a:r>
            <a:r>
              <a:rPr lang="en-US" altLang="ko-KR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100" dirty="0" err="1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변별어</a:t>
            </a:r>
            <a:r>
              <a:rPr lang="en-US" altLang="ko-KR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 ·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Co-targeting </a:t>
            </a:r>
            <a:r>
              <a:rPr lang="ko-KR" altLang="en-US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네트워크</a:t>
            </a:r>
            <a:endParaRPr lang="en-US" altLang="ko-KR" sz="1100" dirty="0" smtClean="0">
              <a:solidFill>
                <a:srgbClr val="FFFFFF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 err="1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매개중심성</a:t>
            </a:r>
            <a:r>
              <a:rPr lang="en-US" altLang="ko-KR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구조</a:t>
            </a:r>
            <a:r>
              <a:rPr lang="en-US" altLang="ko-KR" sz="110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 · </a:t>
            </a: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WEAT(Embedding)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 MLM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53999" y="4553234"/>
            <a:ext cx="732097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</a:rPr>
              <a:t>▲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분석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자료는 모두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2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차 공개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자료로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직접 수집하거나 </a:t>
            </a:r>
            <a:r>
              <a:rPr lang="ko-KR" altLang="en-US" sz="1000" dirty="0" err="1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라벨링하지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않았다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 KOLD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무작위가 아닌 욕설 유발 키워드 기반으로 수집되었으며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본 연구에서는 기존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라벨링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표적 집단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공격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스팬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만을 이용하여 분석하였다</a:t>
            </a:r>
            <a:r>
              <a:rPr lang="en-US" altLang="ko-KR" sz="1000" dirty="0" smtClean="0">
                <a:solidFill>
                  <a:schemeClr val="bg1">
                    <a:lumMod val="7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000" dirty="0">
              <a:solidFill>
                <a:schemeClr val="bg1">
                  <a:lumMod val="7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가장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형태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없을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줄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알았던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것은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,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사실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market Sans TTF Bold"/>
              </a:rPr>
              <a:t>가장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err="1">
                <a:solidFill>
                  <a:srgbClr val="D19BA1"/>
                </a:solidFill>
                <a:latin typeface="Gmarket Sans TTF Bold"/>
              </a:rPr>
              <a:t>규칙적이었다</a:t>
            </a:r>
            <a:endParaRPr sz="2000" b="1" i="0" dirty="0">
              <a:solidFill>
                <a:srgbClr val="D19BA1"/>
              </a:solidFill>
              <a:latin typeface="Gmarket Sans TTF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9A9A9A"/>
                </a:solidFill>
                <a:latin typeface="Gmarket Sans TTF Medium"/>
              </a:rPr>
              <a:t>사회 → </a:t>
            </a:r>
            <a:r>
              <a:rPr sz="1150" b="0" i="0">
                <a:solidFill>
                  <a:srgbClr val="D98793"/>
                </a:solidFill>
                <a:latin typeface="Gmarket Sans TTF Medium"/>
              </a:rPr>
              <a:t>언어</a:t>
            </a:r>
            <a:r>
              <a:rPr sz="1150" b="0" i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0" y="815111"/>
            <a:ext cx="1163320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먼저 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언어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에서 혐오가 어떤 형태로 남는지 분석하였다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sz="1350" b="0" i="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서로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다른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집단들을 </a:t>
            </a:r>
            <a:r>
              <a:rPr sz="1350" b="0" i="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공격하는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말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들이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무한히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err="1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다양할까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? </a:t>
            </a:r>
            <a:r>
              <a:rPr lang="ko-KR" altLang="en-US" sz="1350" dirty="0" err="1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변별어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분석을 통해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특정 표적에서 유난히 반복되는 단어를 찾았다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350" b="0" i="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" y="1574800"/>
            <a:ext cx="3175000" cy="332377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1000" y="171450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700" y="1711402"/>
            <a:ext cx="53340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00" b="1" i="0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변별어</a:t>
            </a:r>
            <a:r>
              <a:rPr lang="ko-KR" altLang="en-US"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분석</a:t>
            </a:r>
            <a:endParaRPr lang="en-US" altLang="ko-KR" sz="1500" b="1" i="0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r>
              <a:rPr lang="en-US" altLang="ko-KR" sz="1050" b="1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Z </a:t>
            </a:r>
            <a:r>
              <a:rPr lang="en-US" altLang="ko-KR" sz="900" b="1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= </a:t>
            </a:r>
            <a:r>
              <a:rPr lang="ko-KR" altLang="en-US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특정 단어가 해당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표적 집단에 </a:t>
            </a:r>
            <a:endParaRPr lang="en-US" altLang="ko-KR" sz="900" dirty="0" smtClean="0">
              <a:solidFill>
                <a:schemeClr val="tx1">
                  <a:lumMod val="85000"/>
                  <a:lumOff val="1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      </a:t>
            </a:r>
            <a:r>
              <a:rPr lang="ko-KR" altLang="en-US" sz="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유독 많이 나오는 정도 </a:t>
            </a:r>
            <a:r>
              <a:rPr lang="en-US" altLang="ko-KR" sz="9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(Z &gt; 1.96)</a:t>
            </a:r>
            <a:endParaRPr sz="900" b="1" i="0" dirty="0">
              <a:solidFill>
                <a:schemeClr val="tx1">
                  <a:lumMod val="85000"/>
                  <a:lumOff val="1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9400" y="4640045"/>
            <a:ext cx="30480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 dirty="0">
                <a:solidFill>
                  <a:srgbClr val="888888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z &gt; 1.96 = p &lt; .05 (Monroe 2008</a:t>
            </a:r>
            <a:r>
              <a:rPr sz="700" b="0" i="0" dirty="0" smtClean="0">
                <a:solidFill>
                  <a:srgbClr val="888888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en-US" sz="700" dirty="0" smtClean="0">
                <a:solidFill>
                  <a:srgbClr val="888888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700" dirty="0" smtClean="0">
                <a:solidFill>
                  <a:srgbClr val="888888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공백 토큰화 한계</a:t>
            </a:r>
            <a:endParaRPr lang="en-US" sz="700" dirty="0">
              <a:solidFill>
                <a:srgbClr val="888888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9696" y="2347315"/>
            <a:ext cx="287707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각 </a:t>
            </a:r>
            <a:r>
              <a:rPr lang="ko-KR" altLang="en-US" sz="10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표적에서 </a:t>
            </a:r>
            <a:r>
              <a:rPr lang="ko-KR" altLang="en-US" sz="10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과도하게 </a:t>
            </a:r>
            <a:r>
              <a:rPr lang="ko-KR" altLang="en-US" sz="10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반복되는 </a:t>
            </a:r>
            <a:r>
              <a:rPr lang="ko-KR" altLang="en-US" sz="10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단어를 찾는다</a:t>
            </a:r>
            <a:r>
              <a:rPr lang="en-US" altLang="ko-KR" sz="10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log-odds </a:t>
            </a:r>
            <a:r>
              <a:rPr lang="ko-KR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비를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표준오차로 </a:t>
            </a:r>
            <a:r>
              <a:rPr lang="ko-KR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나누어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희귀어의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과대평가를 </a:t>
            </a:r>
            <a:r>
              <a:rPr lang="ko-KR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줄이고 </a:t>
            </a:r>
            <a:r>
              <a:rPr lang="ko-KR" altLang="en-US" sz="10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범용어를</a:t>
            </a:r>
            <a:r>
              <a:rPr lang="ko-KR" altLang="en-US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보정하였다</a:t>
            </a:r>
            <a:r>
              <a:rPr lang="en-US" altLang="ko-KR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70400" y="1574800"/>
            <a:ext cx="1995714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73600" y="1752600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0625" y="1723810"/>
            <a:ext cx="218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위협</a:t>
            </a:r>
            <a:r>
              <a:rPr lang="en-US" altLang="ko-KR" sz="1400" b="1" dirty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·</a:t>
            </a:r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추방</a:t>
            </a:r>
            <a:endParaRPr lang="en-US" altLang="ko-KR" sz="1400" b="1" dirty="0" smtClean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/>
            <a:r>
              <a:rPr lang="ko-KR" altLang="en-US" sz="1000" b="1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무슬림</a:t>
            </a:r>
            <a:endParaRPr sz="10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73600" y="2218762"/>
            <a:ext cx="32258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테러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(7.68)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나라로</a:t>
            </a:r>
            <a:r>
              <a:rPr 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(6.55) </a:t>
            </a:r>
            <a:endParaRPr lang="en-US" sz="105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/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사라져야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4.11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591202" y="1574800"/>
            <a:ext cx="2181699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64726" y="1752600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9719" y="1717093"/>
            <a:ext cx="25400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병리화</a:t>
            </a:r>
            <a:endParaRPr lang="en-US" altLang="ko-KR" sz="1400" b="1" dirty="0" smtClean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/>
            <a:r>
              <a:rPr lang="ko-KR" alt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페미니스트</a:t>
            </a:r>
            <a:endParaRPr sz="11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90230" y="2084950"/>
            <a:ext cx="32258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페미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(14.28)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정신병</a:t>
            </a:r>
            <a:r>
              <a:rPr 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(11.63)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470400" y="2962150"/>
            <a:ext cx="1995714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73600" y="3128375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19875" y="3091365"/>
            <a:ext cx="21844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오염</a:t>
            </a:r>
            <a:endParaRPr lang="en-US" altLang="ko-KR" sz="1400" b="1" dirty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r>
              <a:rPr lang="ko-KR" altLang="en-US" sz="1100" b="1" dirty="0" err="1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성소수자</a:t>
            </a:r>
            <a:endParaRPr lang="ko-KR" altLang="en-US" sz="1100" b="1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30056" y="3518475"/>
            <a:ext cx="32258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 smtClean="0">
                <a:solidFill>
                  <a:srgbClr val="555555"/>
                </a:solidFill>
                <a:latin typeface="Gmarket Sans TTF Medium"/>
              </a:rPr>
              <a:t>동성애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/>
              </a:rPr>
              <a:t>(11.82)</a:t>
            </a:r>
            <a:r>
              <a:rPr sz="1050" b="0" i="0" dirty="0" smtClean="0">
                <a:solidFill>
                  <a:srgbClr val="555555"/>
                </a:solidFill>
                <a:latin typeface="Gmarket Sans TTF Medium"/>
              </a:rPr>
              <a:t>·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/>
              </a:rPr>
              <a:t>에이즈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/>
              </a:rPr>
              <a:t>(8.00)</a:t>
            </a:r>
            <a:endParaRPr sz="1050" b="0" i="0" dirty="0">
              <a:solidFill>
                <a:srgbClr val="555555"/>
              </a:solidFill>
              <a:latin typeface="Gmarket Sans TTF Medium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73600" y="3737758"/>
            <a:ext cx="3225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smtClean="0">
                <a:solidFill>
                  <a:srgbClr val="555555"/>
                </a:solidFill>
                <a:latin typeface="Gmarket Sans TTF Medium"/>
              </a:rPr>
              <a:t>·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/>
              </a:rPr>
              <a:t>변태적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/>
              </a:rPr>
              <a:t>(4.2</a:t>
            </a:r>
            <a:r>
              <a:rPr lang="en-US" sz="1150" b="0" i="0" dirty="0" smtClean="0">
                <a:solidFill>
                  <a:srgbClr val="555555"/>
                </a:solidFill>
                <a:latin typeface="Gmarket Sans TTF Medium"/>
              </a:rPr>
              <a:t>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70292" y="2950575"/>
            <a:ext cx="2202609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64830" y="3128375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92380" y="3120240"/>
            <a:ext cx="25400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자질 결함</a:t>
            </a:r>
            <a:r>
              <a:rPr lang="en-US" altLang="ko-KR" sz="1400" b="1" dirty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· </a:t>
            </a:r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범죄</a:t>
            </a:r>
            <a:endParaRPr lang="en-US" altLang="ko-KR" sz="1400" b="1" dirty="0" smtClean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/>
            <a:r>
              <a:rPr lang="ko-KR" alt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남성</a:t>
            </a:r>
            <a:endParaRPr sz="11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64830" y="3518475"/>
            <a:ext cx="32258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한남</a:t>
            </a:r>
            <a:r>
              <a:rPr lang="en-US" altLang="ko-KR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(8.07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남자들</a:t>
            </a:r>
            <a:r>
              <a:rPr lang="en-US" altLang="ko-KR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(6.95)</a:t>
            </a:r>
          </a:p>
          <a:p>
            <a:pPr algn="l"/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도태된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(4.17)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</a:t>
            </a:r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범죄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(3.87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〕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346758" y="4350223"/>
            <a:ext cx="7616642" cy="796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▲ </a:t>
            </a:r>
            <a:r>
              <a:rPr sz="1150" b="0" i="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공유</a:t>
            </a:r>
            <a:r>
              <a:rPr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150" b="0" i="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문법</a:t>
            </a: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도 발견되었다</a:t>
            </a:r>
            <a:r>
              <a:rPr lang="en-US" altLang="ko-KR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sz="1150" b="0" i="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나라로</a:t>
            </a:r>
            <a:r>
              <a:rPr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계열 </a:t>
            </a:r>
            <a:r>
              <a:rPr lang="en-US" altLang="ko-KR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추방</a:t>
            </a:r>
            <a:r>
              <a:rPr lang="en-US" altLang="ko-KR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은 </a:t>
            </a:r>
            <a:r>
              <a:rPr lang="ko-KR" altLang="en-US" sz="1150" b="0" i="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무슬림과</a:t>
            </a:r>
            <a:r>
              <a:rPr lang="ko-KR" alt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조선족에서</a:t>
            </a:r>
            <a:r>
              <a:rPr lang="en-US" altLang="ko-KR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</a:t>
            </a:r>
            <a:r>
              <a:rPr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150" b="0" i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sz="1150" b="0" i="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오염</a:t>
            </a:r>
            <a:r>
              <a:rPr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en-US" sz="115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‘</a:t>
            </a:r>
            <a:r>
              <a:rPr lang="ko-KR" altLang="en-US" sz="1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계열은 중국인과 </a:t>
            </a:r>
            <a:r>
              <a:rPr lang="ko-KR" altLang="en-US" sz="115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성소수자에서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반복되었다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반복은 단어 수준에만 머물지 않았다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나라로 가라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 ‘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하지 마라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 ‘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꺼져라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같은 명령형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‘ ○○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이렇다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.’ 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같은 </a:t>
            </a:r>
            <a:r>
              <a:rPr lang="ko-KR" altLang="en-US" sz="115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단정형도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함께 나타났다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혐오는 표적을 밀어내고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행동을 제한하며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</a:t>
            </a:r>
            <a:r>
              <a:rPr lang="ko-KR" altLang="en-US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속성을 고정하는 양식으로 나타났다</a:t>
            </a:r>
            <a:r>
              <a:rPr lang="en-US" altLang="ko-KR" sz="115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150" b="0" i="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2687" y="5328563"/>
            <a:ext cx="113411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</a:t>
            </a:r>
            <a:r>
              <a:rPr lang="ko-KR" altLang="en-US" sz="20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표적 안에서 반복되는 문법으로 나타났고</a:t>
            </a:r>
            <a:r>
              <a:rPr lang="en-US" altLang="ko-KR" sz="20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</a:p>
          <a:p>
            <a:pPr algn="ctr"/>
            <a:r>
              <a:rPr lang="ko-KR" altLang="en-US" sz="20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일부 공격 방식은 표적을 건너 재사용되었다</a:t>
            </a:r>
            <a:r>
              <a:rPr lang="en-US" altLang="ko-KR" sz="20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 algn="ctr"/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무정형이 아니라 </a:t>
            </a:r>
            <a:r>
              <a:rPr b="1" i="0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규칙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성이 존재했다</a:t>
            </a:r>
            <a:r>
              <a:rPr lang="en-US" altLang="ko-K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b="1" i="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8" r="14561" b="70935"/>
          <a:stretch/>
        </p:blipFill>
        <p:spPr bwMode="auto">
          <a:xfrm>
            <a:off x="872569" y="3141535"/>
            <a:ext cx="1721005" cy="47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3" t="50285" r="8587" b="29362"/>
          <a:stretch/>
        </p:blipFill>
        <p:spPr bwMode="auto">
          <a:xfrm>
            <a:off x="522942" y="4036087"/>
            <a:ext cx="2424745" cy="424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" name="Right Arrow 21"/>
          <p:cNvSpPr/>
          <p:nvPr/>
        </p:nvSpPr>
        <p:spPr>
          <a:xfrm>
            <a:off x="3688575" y="2522273"/>
            <a:ext cx="658183" cy="86146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3" t="29932" r="8587" b="49715"/>
          <a:stretch/>
        </p:blipFill>
        <p:spPr bwMode="auto">
          <a:xfrm>
            <a:off x="595858" y="3614238"/>
            <a:ext cx="2424745" cy="424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Rounded Rectangle 30"/>
          <p:cNvSpPr/>
          <p:nvPr/>
        </p:nvSpPr>
        <p:spPr>
          <a:xfrm>
            <a:off x="7048362" y="1574800"/>
            <a:ext cx="2032221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31"/>
          <p:cNvSpPr/>
          <p:nvPr/>
        </p:nvSpPr>
        <p:spPr>
          <a:xfrm>
            <a:off x="7206794" y="1752600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31787" y="1717093"/>
            <a:ext cx="25400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추방</a:t>
            </a:r>
            <a:endParaRPr lang="en-US" altLang="ko-KR" sz="1400" b="1" dirty="0" smtClean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/>
            <a:r>
              <a:rPr lang="ko-KR" alt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조선족</a:t>
            </a:r>
            <a:endParaRPr sz="11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71" name="Rounded Rectangle 38"/>
          <p:cNvSpPr/>
          <p:nvPr/>
        </p:nvSpPr>
        <p:spPr>
          <a:xfrm>
            <a:off x="7035023" y="2962149"/>
            <a:ext cx="2045560" cy="1260866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39"/>
          <p:cNvSpPr/>
          <p:nvPr/>
        </p:nvSpPr>
        <p:spPr>
          <a:xfrm>
            <a:off x="7238223" y="3128374"/>
            <a:ext cx="50800" cy="2540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84498" y="3091364"/>
            <a:ext cx="21844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감염</a:t>
            </a:r>
            <a:endParaRPr lang="en-US" altLang="ko-KR" sz="1400" b="1" dirty="0">
              <a:solidFill>
                <a:srgbClr val="B25662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r>
              <a:rPr lang="ko-KR" alt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중국인</a:t>
            </a:r>
            <a:endParaRPr lang="ko-KR" altLang="en-US" sz="1100" b="1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238223" y="3518474"/>
            <a:ext cx="32258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바이러스 </a:t>
            </a:r>
            <a:r>
              <a:rPr 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(4.14)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179384" y="2199108"/>
            <a:ext cx="32258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중국으로 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(9.05) 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나라로</a:t>
            </a:r>
            <a:r>
              <a:rPr 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(6.10) </a:t>
            </a:r>
          </a:p>
          <a:p>
            <a:pPr algn="l"/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추방해라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(5.22)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cxnSp>
        <p:nvCxnSpPr>
          <p:cNvPr id="84" name="직선 연결선 83"/>
          <p:cNvCxnSpPr/>
          <p:nvPr/>
        </p:nvCxnSpPr>
        <p:spPr>
          <a:xfrm>
            <a:off x="6517234" y="1822450"/>
            <a:ext cx="538161" cy="0"/>
          </a:xfrm>
          <a:prstGeom prst="line">
            <a:avLst/>
          </a:prstGeom>
          <a:ln w="57150" cap="rnd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494514" y="2030951"/>
            <a:ext cx="54952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일부 공유</a:t>
            </a:r>
            <a:endParaRPr sz="700" b="1" i="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479822" y="3411336"/>
            <a:ext cx="564213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일부 공유</a:t>
            </a:r>
            <a:endParaRPr sz="700" b="1" i="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cxnSp>
        <p:nvCxnSpPr>
          <p:cNvPr id="97" name="직선 연결선 96"/>
          <p:cNvCxnSpPr/>
          <p:nvPr/>
        </p:nvCxnSpPr>
        <p:spPr>
          <a:xfrm>
            <a:off x="6515881" y="3255374"/>
            <a:ext cx="538161" cy="0"/>
          </a:xfrm>
          <a:prstGeom prst="line">
            <a:avLst/>
          </a:prstGeom>
          <a:ln w="57150" cap="rnd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혐오는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때로는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EBD5D8"/>
                </a:solidFill>
                <a:latin typeface="Gmarket Sans TTF Bold"/>
              </a:rPr>
              <a:t>웃는다</a:t>
            </a:r>
            <a:r>
              <a:rPr sz="2000" b="1" i="0" dirty="0">
                <a:solidFill>
                  <a:srgbClr val="EBD5D8"/>
                </a:solidFill>
                <a:latin typeface="Gmarket Sans TTF Bold"/>
              </a:rPr>
              <a:t>.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그리고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EBD5D8"/>
                </a:solidFill>
                <a:latin typeface="Gmarket Sans TTF Bold"/>
              </a:rPr>
              <a:t>침묵시킨다</a:t>
            </a:r>
            <a:r>
              <a:rPr sz="2000" b="1" i="0" dirty="0">
                <a:solidFill>
                  <a:srgbClr val="EBD5D8"/>
                </a:solidFill>
                <a:latin typeface="Gmarket Sans TTF 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rgbClr val="D98793"/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0" y="898325"/>
            <a:ext cx="11633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변별어들과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문법소들은</a:t>
            </a:r>
            <a:r>
              <a:rPr lang="en-US" altLang="ko-KR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우리의 생각과 달리</a:t>
            </a:r>
            <a:r>
              <a:rPr lang="en-US" altLang="ko-KR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모든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혐오가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격앙된 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분노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로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만 드러나지 않는다는 것을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보여주었다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350" b="0" i="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8600" y="1397000"/>
            <a:ext cx="5867400" cy="287405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09600" y="169219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6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비웃는다</a:t>
            </a:r>
            <a:endParaRPr sz="16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300" y="3022713"/>
            <a:ext cx="5588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분노가 아니라 </a:t>
            </a:r>
            <a:r>
              <a:rPr sz="12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비웃음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이다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200" dirty="0"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상대의 </a:t>
            </a:r>
            <a:r>
              <a:rPr lang="ko-KR" altLang="en-US" sz="12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말을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진지하게 검토하기 전에 우스운 </a:t>
            </a:r>
            <a:r>
              <a:rPr lang="ko-KR" altLang="en-US" sz="12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것으로 만들어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가치를 지운다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Ex) ‘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ㅋㅋ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하는 건 없고</a:t>
            </a:r>
            <a:r>
              <a:rPr lang="en-US" altLang="ko-KR" sz="12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[…] ‘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너희들 특기잖아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?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ㅋㅋ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 ‘[…]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풉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ㅋㅋㅋ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ㅋㅋ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범용어인데도</a:t>
            </a:r>
            <a:r>
              <a:rPr lang="en-US" altLang="ko-KR" sz="1200" dirty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불구하고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유의하게 높은 신호로 드러났다</a:t>
            </a:r>
            <a:r>
              <a:rPr lang="en-US" altLang="ko-KR" sz="1200" dirty="0" smtClean="0"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sz="1200" b="0" i="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24600" y="1397000"/>
            <a:ext cx="5638800" cy="287405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745125" y="1703765"/>
            <a:ext cx="4318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조용히 시킨</a:t>
            </a:r>
            <a:r>
              <a:rPr sz="16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</a:t>
            </a:r>
            <a:endParaRPr sz="16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87886" y="2122167"/>
            <a:ext cx="5334000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</a:t>
            </a:r>
            <a:r>
              <a:rPr sz="4400" b="1" i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조용히</a:t>
            </a:r>
            <a:r>
              <a:rPr sz="4400" b="1" i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”</a:t>
            </a:r>
            <a:r>
              <a:rPr lang="en-US" sz="4400" b="1" i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</a:p>
          <a:p>
            <a:pPr algn="ctr"/>
            <a:r>
              <a:rPr lang="en-US" sz="1400" b="1" i="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z=8.4, </a:t>
            </a:r>
            <a:r>
              <a:rPr lang="ko-KR" altLang="en-US" sz="1400" b="1" i="0" dirty="0" err="1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성소수자</a:t>
            </a:r>
            <a:endParaRPr sz="1400" b="1" i="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7000" y="3058450"/>
            <a:ext cx="53340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분노가 아니라 침묵 명령이다</a:t>
            </a:r>
            <a:r>
              <a:rPr lang="en-US" altLang="ko-KR" sz="12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존재는 허락하되 드러남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발언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권리를 금지해 공적 공간에서 밀어낸다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Ex) ‘[…]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니들끼리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살아라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.’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알리지 말고 조용히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즐기시라고요</a:t>
            </a:r>
            <a:r>
              <a:rPr lang="en-US" altLang="ko-KR" sz="12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[…] ’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추방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나라로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와 소멸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사라져라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와 달리</a:t>
            </a:r>
            <a:r>
              <a:rPr lang="en-US" altLang="ko-KR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가시성을 박탈한다</a:t>
            </a:r>
            <a:r>
              <a:rPr lang="en-US" altLang="ko-KR" sz="12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200" b="0" i="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4667625"/>
            <a:ext cx="121920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웃음은 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거리를 만들고</a:t>
            </a:r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침묵 요구는 가시성을 통제한다</a:t>
            </a:r>
            <a:r>
              <a:rPr lang="en-US" altLang="ko-KR" sz="1600" b="1" dirty="0" smtClean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감정적으로 보이는 표면조차</a:t>
            </a:r>
            <a:r>
              <a:rPr lang="en-US" altLang="ko-KR" sz="2800" b="1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800" b="1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골라 쓴</a:t>
            </a:r>
            <a:r>
              <a:rPr lang="en-US" altLang="ko-KR" sz="2800" b="1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2800" b="1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반복되는 </a:t>
            </a:r>
            <a:r>
              <a:rPr lang="ko-KR" altLang="en-US" sz="2800" b="1" dirty="0" smtClean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양식이었다</a:t>
            </a:r>
            <a:r>
              <a:rPr lang="en-US" altLang="ko-KR" b="1" dirty="0" smtClean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이는 혐오가 즉흥적인 분출이 아닌 </a:t>
            </a:r>
            <a:r>
              <a:rPr lang="ko-KR" altLang="en-US" sz="1600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굳어진 </a:t>
            </a:r>
            <a:r>
              <a:rPr lang="ko-KR" altLang="en-US" sz="1600" b="1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문법임을</a:t>
            </a:r>
            <a:r>
              <a:rPr lang="ko-KR" altLang="en-US" sz="1600" dirty="0" smtClean="0">
                <a:solidFill>
                  <a:srgbClr val="EBD5D8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보여준다</a:t>
            </a:r>
            <a:r>
              <a:rPr lang="en-US" altLang="ko-KR" sz="1600" dirty="0">
                <a:solidFill>
                  <a:schemeClr val="bg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1600" b="1" i="0" dirty="0">
              <a:solidFill>
                <a:schemeClr val="bg1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33" name="Rectangle 23"/>
          <p:cNvSpPr/>
          <p:nvPr/>
        </p:nvSpPr>
        <p:spPr>
          <a:xfrm>
            <a:off x="381000" y="1669022"/>
            <a:ext cx="50800" cy="254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Rectangle 23"/>
          <p:cNvSpPr/>
          <p:nvPr/>
        </p:nvSpPr>
        <p:spPr>
          <a:xfrm>
            <a:off x="6477000" y="1673523"/>
            <a:ext cx="50800" cy="254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79400" y="2091857"/>
            <a:ext cx="58166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</a:t>
            </a:r>
            <a:r>
              <a:rPr sz="4400" b="1" i="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ㅋㅋ</a:t>
            </a:r>
            <a:r>
              <a:rPr sz="4400" b="1" i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”</a:t>
            </a:r>
            <a:r>
              <a:rPr lang="en-US" sz="4400" b="1" i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</a:p>
          <a:p>
            <a:pPr algn="ctr"/>
            <a:r>
              <a:rPr lang="en-US" sz="1200" b="1" i="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z=5.0,</a:t>
            </a:r>
            <a:r>
              <a:rPr lang="en-US" altLang="ko-KR" sz="1200" b="1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ko-KR" altLang="en-US" sz="1200" b="1" i="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여성</a:t>
            </a:r>
            <a:endParaRPr sz="1200" b="1" i="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서로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다른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혐오는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어떤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표적에서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D19BA1"/>
                </a:solidFill>
                <a:latin typeface="Gmarket Sans TTF Bold"/>
              </a:rPr>
              <a:t>만나는가</a:t>
            </a:r>
            <a:endParaRPr sz="2000" b="1" i="0" dirty="0">
              <a:solidFill>
                <a:srgbClr val="D19BA1"/>
              </a:solidFill>
              <a:latin typeface="Gmarket Sans TTF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rgbClr val="D98793"/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50" y="785592"/>
            <a:ext cx="11720534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 방식에는 규칙이 있었다</a:t>
            </a:r>
            <a:r>
              <a:rPr lang="en-US" altLang="ko-KR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그렇다면 표적은</a:t>
            </a:r>
            <a:r>
              <a:rPr lang="en-US" altLang="ko-KR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어떨까</a:t>
            </a:r>
            <a:r>
              <a:rPr lang="en-US" altLang="ko-KR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?</a:t>
            </a:r>
            <a:endParaRPr lang="en-US" altLang="ko-KR" sz="120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 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댓글을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읽다 보면</a:t>
            </a:r>
            <a:r>
              <a:rPr lang="en-US" altLang="ko-KR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 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댓글이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여러 집단을 함께 공격한다</a:t>
            </a:r>
            <a:r>
              <a:rPr lang="en-US" altLang="ko-KR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글쓴이 머릿속에서 </a:t>
            </a:r>
            <a:r>
              <a:rPr lang="en-US" altLang="ko-KR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'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같은 적</a:t>
            </a:r>
            <a:r>
              <a:rPr lang="en-US" altLang="ko-KR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'</a:t>
            </a:r>
            <a:r>
              <a:rPr lang="ko-KR" altLang="en-US" sz="120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으로 </a:t>
            </a:r>
            <a:r>
              <a:rPr lang="ko-KR" altLang="en-US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묶인 것이다</a:t>
            </a:r>
            <a:r>
              <a:rPr lang="en-US" altLang="ko-KR" sz="12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Allport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(1954) - </a:t>
            </a: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일반화된 </a:t>
            </a: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편견 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·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Zick·Heitmeyer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- </a:t>
            </a: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집단편견증후군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(GFE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).</a:t>
            </a: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endParaRPr lang="en-US" altLang="ko-KR" sz="700" dirty="0" smtClean="0">
              <a:solidFill>
                <a:schemeClr val="bg1">
                  <a:lumMod val="8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어떤 </a:t>
            </a:r>
            <a:r>
              <a:rPr lang="ko-KR" altLang="en-US" sz="1200" dirty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혐오도 혼자 오지 않는다</a:t>
            </a:r>
            <a:r>
              <a:rPr lang="en-US" altLang="ko-KR" sz="1200" dirty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 </a:t>
            </a:r>
            <a:r>
              <a:rPr lang="ko-KR" altLang="en-US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묶인 표적들이 한 문장에 함께 불려나오며 끌려온다</a:t>
            </a:r>
            <a:r>
              <a:rPr lang="en-US" altLang="ko-KR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이 묶임을 공동 표적 네트워크로 그려</a:t>
            </a:r>
            <a:r>
              <a:rPr lang="en-US" altLang="ko-KR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단순 빈도와 비교하였다</a:t>
            </a:r>
            <a:r>
              <a:rPr lang="en-US" altLang="ko-KR" sz="120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200" b="0" i="0" dirty="0">
              <a:solidFill>
                <a:schemeClr val="bg1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1523" y="1669821"/>
            <a:ext cx="6347022" cy="4718277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31800" y="177737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7436" y="1776034"/>
            <a:ext cx="5334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공동 표적 네트워크 시각화</a:t>
            </a:r>
            <a:endParaRPr lang="en-US" altLang="ko-KR" sz="1600" b="1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/>
            <a:r>
              <a:rPr lang="ko-KR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누가 누구와 같은 적으로 묶이는가</a:t>
            </a:r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  <a:endParaRPr sz="1200" b="1" i="0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17" name="Picture 16" descr="fig7-2.png"/>
          <p:cNvPicPr>
            <a:picLocks noChangeAspect="1"/>
          </p:cNvPicPr>
          <p:nvPr/>
        </p:nvPicPr>
        <p:blipFill rotWithShape="1">
          <a:blip r:embed="rId3"/>
          <a:srcRect b="3024"/>
          <a:stretch/>
        </p:blipFill>
        <p:spPr>
          <a:xfrm>
            <a:off x="940996" y="2117325"/>
            <a:ext cx="5697549" cy="414393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01670" y="1669823"/>
            <a:ext cx="2498264" cy="1644877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0" name="Picture 19" descr="fig7-2_leg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360" y="4642300"/>
            <a:ext cx="1849753" cy="13503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55281" y="5558705"/>
            <a:ext cx="5023495" cy="992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흩어지지 않는다</a:t>
            </a:r>
            <a:r>
              <a:rPr lang="en-US" altLang="ko-KR" sz="16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여성을 축으로 엮인 하나의 구조이다</a:t>
            </a:r>
            <a:r>
              <a:rPr lang="en-US" altLang="ko-KR" sz="16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→ </a:t>
            </a:r>
            <a:r>
              <a:rPr lang="ko-KR" altLang="en-US" sz="1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 </a:t>
            </a:r>
            <a:r>
              <a:rPr lang="ko-KR" altLang="en-US" sz="1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규칙은 방식을 넘어 표적 구조에도 있었다</a:t>
            </a:r>
            <a:r>
              <a:rPr lang="en-US" altLang="ko-KR" sz="1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</p:txBody>
      </p:sp>
      <p:pic>
        <p:nvPicPr>
          <p:cNvPr id="26" name="Picture 12" descr="fig7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976" y="2149639"/>
            <a:ext cx="1505245" cy="1165061"/>
          </a:xfrm>
          <a:prstGeom prst="rect">
            <a:avLst/>
          </a:prstGeom>
        </p:spPr>
      </p:pic>
      <p:sp>
        <p:nvSpPr>
          <p:cNvPr id="27" name="Rounded Rectangle 10"/>
          <p:cNvSpPr/>
          <p:nvPr/>
        </p:nvSpPr>
        <p:spPr>
          <a:xfrm>
            <a:off x="6785113" y="3422566"/>
            <a:ext cx="5214821" cy="208554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043058" y="3536820"/>
            <a:ext cx="4956876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매개중심성</a:t>
            </a:r>
            <a:r>
              <a:rPr lang="ko-KR" altLang="en-US" sz="14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0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en-US" altLang="ko-KR" sz="105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Between Centrality)</a:t>
            </a:r>
          </a:p>
          <a:p>
            <a:pPr>
              <a:lnSpc>
                <a:spcPct val="150000"/>
              </a:lnSpc>
            </a:pPr>
            <a:r>
              <a:rPr lang="ko-KR" altLang="en-US" sz="800" b="1" i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서로 다른 혐오들을 이어주는 정도를 수치화 한 값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altLang="ko-KR" sz="800" b="1" i="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특정 집단의 수치가 크다는 것은</a:t>
            </a:r>
            <a:endParaRPr lang="en-US" altLang="ko-KR" sz="800" b="1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 집단을 빼면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각기 다른 혐오들이 끊어지는 구조임을 의미한다</a:t>
            </a:r>
            <a:r>
              <a: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8" r="22949" b="44962"/>
          <a:stretch/>
        </p:blipFill>
        <p:spPr bwMode="auto">
          <a:xfrm>
            <a:off x="10237305" y="3536820"/>
            <a:ext cx="1497496" cy="971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7100019" y="5337991"/>
            <a:ext cx="483567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Light"/>
              </a:rPr>
              <a:t>BC = </a:t>
            </a:r>
            <a:r>
              <a: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Light"/>
              </a:rPr>
              <a:t>NetworkX</a:t>
            </a:r>
            <a:r>
              <a: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Light"/>
              </a:rPr>
              <a:t>(2008) · distance = 1/weight </a:t>
            </a:r>
          </a:p>
        </p:txBody>
      </p:sp>
      <p:sp>
        <p:nvSpPr>
          <p:cNvPr id="34" name="Rounded Rectangle 13"/>
          <p:cNvSpPr/>
          <p:nvPr/>
        </p:nvSpPr>
        <p:spPr>
          <a:xfrm>
            <a:off x="6785113" y="1669823"/>
            <a:ext cx="2602642" cy="1644877"/>
          </a:xfrm>
          <a:prstGeom prst="roundRect">
            <a:avLst>
              <a:gd name="adj" fmla="val 953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21" name="Picture 20" descr="fig7-2_def.png"/>
          <p:cNvPicPr>
            <a:picLocks noChangeAspect="1"/>
          </p:cNvPicPr>
          <p:nvPr/>
        </p:nvPicPr>
        <p:blipFill rotWithShape="1">
          <a:blip r:embed="rId7"/>
          <a:srcRect l="18875" t="8618" r="4470" b="47071"/>
          <a:stretch/>
        </p:blipFill>
        <p:spPr>
          <a:xfrm>
            <a:off x="7297146" y="2332193"/>
            <a:ext cx="1666587" cy="678456"/>
          </a:xfrm>
          <a:prstGeom prst="rect">
            <a:avLst/>
          </a:prstGeom>
        </p:spPr>
      </p:pic>
      <p:sp>
        <p:nvSpPr>
          <p:cNvPr id="35" name="Rectangle 14"/>
          <p:cNvSpPr/>
          <p:nvPr/>
        </p:nvSpPr>
        <p:spPr>
          <a:xfrm>
            <a:off x="6895112" y="174254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7004543" y="1787384"/>
            <a:ext cx="2283713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0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네트워크 정의</a:t>
            </a:r>
            <a:endParaRPr lang="en-US" altLang="ko-KR" sz="1050" b="1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노드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(●) </a:t>
            </a:r>
            <a:r>
              <a:rPr lang="en-US" altLang="ko-KR" sz="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= 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 표적이 된 집단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색은 표적의 범주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엣지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(─) = 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 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댓글이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두 집단을 함께 표적으로 삼으면 </a:t>
            </a:r>
            <a:endParaRPr lang="en-US" altLang="ko-KR" sz="700" b="1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두 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노드가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이어진다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ko-KR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공동 표적</a:t>
            </a:r>
            <a:r>
              <a:rPr lang="en-US" altLang="ko-KR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). </a:t>
            </a:r>
            <a:endParaRPr sz="900" b="1" i="0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37" name="Rectangle 14"/>
          <p:cNvSpPr/>
          <p:nvPr/>
        </p:nvSpPr>
        <p:spPr>
          <a:xfrm>
            <a:off x="9567974" y="1738372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9676266" y="1739287"/>
            <a:ext cx="2151299" cy="403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표적 빈도 시각화</a:t>
            </a:r>
            <a:endParaRPr lang="en-US" altLang="ko-KR" sz="1050" b="1" dirty="0" smtClean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700" b="1" i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댓글에서</a:t>
            </a:r>
            <a:r>
              <a:rPr lang="ko-KR" altLang="en-US" sz="700" b="1" i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표적으로 지목된 횟수를 합산한 값</a:t>
            </a:r>
            <a:endParaRPr sz="600" b="1" i="0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39" name="Picture 16" descr="fig7-2.png"/>
          <p:cNvPicPr>
            <a:picLocks noChangeAspect="1"/>
          </p:cNvPicPr>
          <p:nvPr/>
        </p:nvPicPr>
        <p:blipFill rotWithShape="1">
          <a:blip r:embed="rId3"/>
          <a:srcRect l="40459" t="97054"/>
          <a:stretch/>
        </p:blipFill>
        <p:spPr>
          <a:xfrm>
            <a:off x="1367862" y="6182577"/>
            <a:ext cx="5230927" cy="194104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6895112" y="2948591"/>
            <a:ext cx="2492643" cy="517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자주 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함께 불려 나올수록 선이 굵다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lang="en-US" altLang="ko-KR" sz="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Ex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 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표적 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A·B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가 한 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댓글에서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7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번 함께 호명 → 두 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노드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사이 가중치 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7 (</a:t>
            </a:r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선 굵기 ↑</a:t>
            </a:r>
            <a:r>
              <a:rPr lang="en-US" altLang="ko-KR" sz="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</a:t>
            </a:r>
            <a:endParaRPr lang="en-US" altLang="ko-KR" sz="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700" b="1" dirty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47" name="Rectangle 14"/>
          <p:cNvSpPr/>
          <p:nvPr/>
        </p:nvSpPr>
        <p:spPr>
          <a:xfrm>
            <a:off x="6914469" y="3518030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직사각형 45"/>
          <p:cNvSpPr/>
          <p:nvPr/>
        </p:nvSpPr>
        <p:spPr>
          <a:xfrm>
            <a:off x="6899225" y="4305358"/>
            <a:ext cx="5129481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여성 </a:t>
            </a:r>
            <a:r>
              <a:rPr lang="en-US" altLang="ko-KR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BC : </a:t>
            </a:r>
            <a:r>
              <a:rPr lang="en-US" altLang="ko-KR" sz="1600" b="1" dirty="0" smtClean="0">
                <a:solidFill>
                  <a:srgbClr val="B25662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0.567</a:t>
            </a:r>
            <a:r>
              <a:rPr lang="en-US" altLang="ko-KR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  </a:t>
            </a:r>
            <a:r>
              <a:rPr lang="ko-KR" altLang="en-US" sz="1050" b="1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남성 </a:t>
            </a:r>
            <a:r>
              <a:rPr lang="en-US" altLang="ko-KR" sz="105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BC : </a:t>
            </a:r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0</a:t>
            </a:r>
            <a:endParaRPr lang="en-US" altLang="ko-KR" sz="1400" b="1" dirty="0">
              <a:solidFill>
                <a:schemeClr val="bg1">
                  <a:lumMod val="50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→ </a:t>
            </a:r>
            <a:r>
              <a:rPr lang="ko-KR" altLang="en-US" sz="9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 </a:t>
            </a: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서로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다른 갈등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종교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민족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정치</a:t>
            </a:r>
            <a:r>
              <a:rPr lang="en-US" altLang="ko-K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성소수자</a:t>
            </a:r>
            <a:r>
              <a:rPr lang="en-US" altLang="ko-K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는 자기들끼리는 잘 묶이지 않았다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endParaRPr lang="en-US" altLang="ko-KR" sz="9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그런데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모두 여성을 거쳤다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반대로 남성은 </a:t>
            </a: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단독으로도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많이 공격받지만</a:t>
            </a:r>
            <a:r>
              <a:rPr lang="en-US" altLang="ko-K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매개중심성은 낮았다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endParaRPr lang="en-US" altLang="ko-KR" sz="900" b="1" dirty="0" smtClean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많이 </a:t>
            </a:r>
            <a:r>
              <a:rPr lang="ko-KR" altLang="en-US" sz="9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공격 받는 것과</a:t>
            </a:r>
            <a:r>
              <a:rPr lang="en-US" altLang="ko-KR" sz="9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9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만나는 자리에 있는 것은 </a:t>
            </a:r>
            <a:r>
              <a:rPr lang="ko-KR" altLang="en-US" sz="9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달랐다</a:t>
            </a:r>
            <a:r>
              <a:rPr lang="en-US" altLang="ko-KR" sz="900" b="1" u="sng" dirty="0">
                <a:solidFill>
                  <a:schemeClr val="bg1">
                    <a:lumMod val="5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ko-KR" altLang="en-US" sz="900" u="sng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2" t="68330" r="29115" b="23372"/>
          <a:stretch/>
        </p:blipFill>
        <p:spPr bwMode="auto">
          <a:xfrm>
            <a:off x="10172700" y="4459532"/>
            <a:ext cx="1569243" cy="213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감정도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경험도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 smtClean="0">
                <a:solidFill>
                  <a:srgbClr val="FFFFFF"/>
                </a:solidFill>
                <a:latin typeface="Gmarket Sans TTF Bold"/>
              </a:rPr>
              <a:t>없이</a:t>
            </a:r>
            <a:r>
              <a:rPr sz="2000" b="1" i="0" dirty="0" smtClean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AI는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D19BA1"/>
                </a:solidFill>
                <a:latin typeface="Gmarket Sans TTF Bold"/>
              </a:rPr>
              <a:t>이미</a:t>
            </a:r>
            <a:r>
              <a:rPr sz="2000" b="1" i="0" dirty="0">
                <a:solidFill>
                  <a:srgbClr val="D19BA1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D19BA1"/>
                </a:solidFill>
                <a:latin typeface="Gmarket Sans TTF Bold"/>
              </a:rPr>
              <a:t>배웠다</a:t>
            </a:r>
            <a:endParaRPr sz="2000" b="1" i="0" dirty="0">
              <a:solidFill>
                <a:srgbClr val="D19BA1"/>
              </a:solidFill>
              <a:latin typeface="Gmarket Sans TTF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rgbClr val="D98793"/>
                </a:solidFill>
                <a:latin typeface="Gmarket Sans TTF Medium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66" y="852916"/>
            <a:ext cx="11252200" cy="634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기계는</a:t>
            </a:r>
            <a:r>
              <a:rPr sz="1350" b="0" i="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감정을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느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끼지 못한다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차별하려는 의도조차 없다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오직 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패턴만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학습한다</a:t>
            </a:r>
            <a:r>
              <a:rPr 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대규모 언어 모델</a:t>
            </a:r>
            <a:r>
              <a:rPr lang="en-US" altLang="ko-KR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(Large </a:t>
            </a:r>
            <a:r>
              <a:rPr lang="en-US" altLang="ko-KR" sz="1400" dirty="0">
                <a:solidFill>
                  <a:schemeClr val="accent2">
                    <a:lumMod val="40000"/>
                    <a:lumOff val="60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Language</a:t>
            </a:r>
            <a:r>
              <a:rPr lang="en-US" altLang="ko-KR" sz="1350" dirty="0">
                <a:solidFill>
                  <a:schemeClr val="accent2">
                    <a:lumMod val="40000"/>
                    <a:lumOff val="60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35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Model, LLM</a:t>
            </a:r>
            <a:r>
              <a:rPr lang="en-US" altLang="ko-KR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</a:t>
            </a:r>
            <a:r>
              <a:rPr lang="ko-KR" altLang="en-US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온라인</a:t>
            </a:r>
            <a:r>
              <a:rPr lang="ko-KR" altLang="en-US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 있는 방대한 </a:t>
            </a:r>
            <a:r>
              <a:rPr lang="ko-KR" altLang="en-US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한국어</a:t>
            </a:r>
            <a:r>
              <a:rPr lang="ko-KR" altLang="en-US" sz="1350" i="0" dirty="0" smtClean="0">
                <a:solidFill>
                  <a:schemeClr val="bg1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데이터</a:t>
            </a:r>
            <a:r>
              <a:rPr lang="ko-KR" altLang="en-US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를 학습해 작동한다</a:t>
            </a:r>
            <a:r>
              <a:rPr lang="en-US" altLang="ko-KR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350" dirty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 텍스트</a:t>
            </a:r>
            <a:r>
              <a:rPr lang="ko-KR" altLang="en-US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에는 혐오 문법과 구조가 있었다</a:t>
            </a:r>
            <a:r>
              <a:rPr lang="en-US" altLang="ko-KR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그렇다면 그것을 먹고 자란 </a:t>
            </a:r>
            <a:r>
              <a:rPr lang="en-US" altLang="ko-KR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</a:t>
            </a:r>
            <a:r>
              <a:rPr lang="en-US" altLang="ko-KR" sz="135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혐오도 같이 배웠을까</a:t>
            </a:r>
            <a:r>
              <a:rPr lang="en-US" altLang="ko-KR" sz="1350" i="0" dirty="0" smtClean="0">
                <a:solidFill>
                  <a:srgbClr val="FFFFFF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? </a:t>
            </a:r>
            <a:endParaRPr sz="1350" i="0" dirty="0">
              <a:solidFill>
                <a:srgbClr val="FFFFFF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" y="1926172"/>
            <a:ext cx="5842000" cy="4360327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72533" y="2129389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97933" y="4960065"/>
            <a:ext cx="5334000" cy="1438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solidFill>
                  <a:srgbClr val="2B2B2B"/>
                </a:solidFill>
                <a:latin typeface="맑은 고딕"/>
                <a:ea typeface="맑은 고딕"/>
              </a:rPr>
              <a:t>▲ </a:t>
            </a:r>
            <a:r>
              <a:rPr lang="en-US" altLang="ko-KR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가 학습한 의미공간에서 표적 집단들은 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좋은 말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보다 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‘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나쁜 말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 더 가까웠다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(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거리 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d). 6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개 모두 대조군 기준 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(0.13)</a:t>
            </a:r>
            <a:r>
              <a:rPr lang="ko-KR" altLang="en-US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을 넘는다</a:t>
            </a:r>
            <a:r>
              <a:rPr lang="en-US" altLang="ko-KR" sz="11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특히 흑인은 </a:t>
            </a:r>
            <a:r>
              <a:rPr lang="ko-KR" altLang="en-US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변별어</a:t>
            </a:r>
            <a:r>
              <a:rPr lang="ko-KR" altLang="en-US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분석에 자생 </a:t>
            </a:r>
            <a:r>
              <a:rPr lang="ko-KR" altLang="en-US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비하어도</a:t>
            </a:r>
            <a:r>
              <a:rPr lang="ko-KR" altLang="en-US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존재하지 않고</a:t>
            </a:r>
            <a:r>
              <a:rPr lang="en-US" altLang="ko-KR" sz="1100" i="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 내 흑인 비율은 인구 </a:t>
            </a:r>
            <a:r>
              <a:rPr lang="en-US" altLang="ko-KR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0.1% </a:t>
            </a:r>
            <a:r>
              <a:rPr lang="ko-KR" altLang="en-US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미만인데도 </a:t>
            </a:r>
            <a:r>
              <a:rPr lang="en-US" altLang="ko-KR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d</a:t>
            </a:r>
            <a:r>
              <a:rPr lang="ko-KR" altLang="en-US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가 가장 컸다</a:t>
            </a:r>
            <a:r>
              <a:rPr lang="en-US" altLang="ko-KR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.(2.14) </a:t>
            </a:r>
          </a:p>
          <a:p>
            <a:pPr algn="l">
              <a:lnSpc>
                <a:spcPct val="150000"/>
              </a:lnSpc>
            </a:pPr>
            <a:r>
              <a:rPr lang="ko-KR" altLang="en-US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수입된 고정관념이 모델 내에 그대로 이식된 것이다</a:t>
            </a:r>
            <a:r>
              <a:rPr lang="en-US" altLang="ko-KR" sz="11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 algn="l"/>
            <a:endParaRPr sz="1100" i="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pic>
        <p:nvPicPr>
          <p:cNvPr id="14" name="Picture 13" descr="fig8-1box.png"/>
          <p:cNvPicPr>
            <a:picLocks noChangeAspect="1"/>
          </p:cNvPicPr>
          <p:nvPr/>
        </p:nvPicPr>
        <p:blipFill rotWithShape="1">
          <a:blip r:embed="rId3"/>
          <a:srcRect b="23260"/>
          <a:stretch/>
        </p:blipFill>
        <p:spPr>
          <a:xfrm>
            <a:off x="4143737" y="3217073"/>
            <a:ext cx="1952263" cy="628418"/>
          </a:xfrm>
          <a:prstGeom prst="rect">
            <a:avLst/>
          </a:prstGeom>
        </p:spPr>
      </p:pic>
      <p:pic>
        <p:nvPicPr>
          <p:cNvPr id="15" name="Picture 14" descr="fig8-1.png"/>
          <p:cNvPicPr>
            <a:picLocks noChangeAspect="1"/>
          </p:cNvPicPr>
          <p:nvPr/>
        </p:nvPicPr>
        <p:blipFill rotWithShape="1">
          <a:blip r:embed="rId4"/>
          <a:srcRect b="9950"/>
          <a:stretch/>
        </p:blipFill>
        <p:spPr>
          <a:xfrm>
            <a:off x="177800" y="2504655"/>
            <a:ext cx="4201736" cy="240602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24600" y="1926181"/>
            <a:ext cx="5638800" cy="2886104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477000" y="2087054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616700" y="211952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빈칸을 채우게 했더니</a:t>
            </a:r>
            <a:r>
              <a:rPr lang="en-US" altLang="ko-KR" sz="1500" b="1" dirty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  <a:r>
              <a:rPr lang="en-US" altLang="ko-KR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AI</a:t>
            </a:r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는 부정어로 답했다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19" name="Picture 18" descr="fig8-2card.png"/>
          <p:cNvPicPr>
            <a:picLocks noChangeAspect="1"/>
          </p:cNvPicPr>
          <p:nvPr/>
        </p:nvPicPr>
        <p:blipFill rotWithShape="1">
          <a:blip r:embed="rId5"/>
          <a:srcRect b="67693"/>
          <a:stretch/>
        </p:blipFill>
        <p:spPr>
          <a:xfrm>
            <a:off x="6526843" y="2338220"/>
            <a:ext cx="2629417" cy="76934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08066" y="4866332"/>
            <a:ext cx="5922434" cy="186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①</a:t>
            </a:r>
            <a:r>
              <a:rPr lang="ko-KR" altLang="en-US" sz="1400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감정 없이도</a:t>
            </a:r>
            <a:endParaRPr lang="en-US" altLang="ko-KR" sz="1400" dirty="0" smtClean="0">
              <a:solidFill>
                <a:srgbClr val="EBD5D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분노도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10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의도도 없는데</a:t>
            </a:r>
            <a:r>
              <a:rPr lang="en-US" altLang="ko-KR" sz="1100" b="0" i="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  <a:r>
              <a:rPr lang="ko-KR" altLang="en-US" sz="11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1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학습된 연관으로 부정어를</a:t>
            </a:r>
            <a:r>
              <a:rPr lang="ko-KR" altLang="en-US" sz="11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생성한다</a:t>
            </a:r>
            <a:r>
              <a:rPr lang="en-US" altLang="ko-KR" sz="11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②</a:t>
            </a:r>
            <a:r>
              <a:rPr lang="en-US" altLang="ko-KR" sz="1400" b="1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400" b="1" dirty="0" smtClean="0">
                <a:solidFill>
                  <a:srgbClr val="EBD5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경험 없이도</a:t>
            </a:r>
            <a:endParaRPr lang="en-US" altLang="ko-KR" sz="1400" b="1" i="0" dirty="0" smtClean="0">
              <a:solidFill>
                <a:srgbClr val="EBD5D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한국 내 흑인 비율은 인구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0.1% 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미만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만나기도 전에 편견이 박혔다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수입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→ </a:t>
            </a:r>
            <a:r>
              <a:rPr lang="ko-KR" altLang="en-US" sz="1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</a:t>
            </a:r>
            <a:r>
              <a:rPr lang="en-US" altLang="ko-KR" sz="1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</a:t>
            </a:r>
            <a:r>
              <a:rPr lang="ko-KR" altLang="en-US" sz="1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에</a:t>
            </a:r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6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16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학습된 연관</a:t>
            </a:r>
            <a:r>
              <a:rPr lang="en-US" altLang="ko-KR" sz="16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</a:t>
            </a:r>
            <a:r>
              <a:rPr lang="ko-KR" altLang="en-US" sz="1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이라는 형태로 남았다</a:t>
            </a:r>
            <a:r>
              <a:rPr lang="en-US" altLang="ko-KR" sz="1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i="0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397" y="6088755"/>
            <a:ext cx="66802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WEAT(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Caliskan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 2017)+MLM / 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fastText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 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재현</a:t>
            </a:r>
            <a:r>
              <a:rPr sz="700" b="0" i="0" dirty="0">
                <a:solidFill>
                  <a:srgbClr val="888888"/>
                </a:solidFill>
                <a:latin typeface="Gmarket Sans TTF Light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283" y="1590039"/>
            <a:ext cx="11252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한국어 코퍼스 기반 </a:t>
            </a:r>
            <a:r>
              <a:rPr lang="en-US" altLang="ko-KR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</a:t>
            </a:r>
            <a:r>
              <a:rPr lang="en-US" altLang="ko-KR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 </a:t>
            </a:r>
            <a:r>
              <a:rPr lang="ko-KR" altLang="en-US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연관을 ‘이미’ 학습했을 수 있다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35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6365" y="865201"/>
            <a:ext cx="471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Q.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161767" y="1482207"/>
            <a:ext cx="445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D19BA1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A.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00658" y="2160143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</a:t>
            </a:r>
            <a:r>
              <a:rPr lang="ko-KR" altLang="en-US"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가 단어를 놓은 자리</a:t>
            </a:r>
            <a:r>
              <a:rPr lang="en-US" altLang="ko-KR"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: </a:t>
            </a:r>
            <a:r>
              <a:rPr lang="ko-KR" altLang="en-US"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표적 집단은 나쁜 말 옆에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33" name="Picture 13" descr="fig8-1box.png"/>
          <p:cNvPicPr>
            <a:picLocks noChangeAspect="1"/>
          </p:cNvPicPr>
          <p:nvPr/>
        </p:nvPicPr>
        <p:blipFill rotWithShape="1">
          <a:blip r:embed="rId3"/>
          <a:srcRect l="59487" t="76858"/>
          <a:stretch/>
        </p:blipFill>
        <p:spPr>
          <a:xfrm>
            <a:off x="4300488" y="3978561"/>
            <a:ext cx="1816725" cy="4353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397466" y="3038595"/>
            <a:ext cx="171565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d = </a:t>
            </a:r>
            <a:r>
              <a:rPr lang="ko-KR" altLang="en-US" sz="11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부정 연관 정도 </a:t>
            </a:r>
            <a:r>
              <a:rPr lang="en-US" altLang="ko-KR" sz="9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(x</a:t>
            </a:r>
            <a:r>
              <a:rPr lang="ko-KR" altLang="en-US" sz="9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축</a:t>
            </a:r>
            <a:r>
              <a:rPr lang="en-US" altLang="ko-KR" sz="9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</a:t>
            </a:r>
            <a:endParaRPr sz="9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36" name="Picture 14" descr="fig8-1.png"/>
          <p:cNvPicPr>
            <a:picLocks noChangeAspect="1"/>
          </p:cNvPicPr>
          <p:nvPr/>
        </p:nvPicPr>
        <p:blipFill rotWithShape="1">
          <a:blip r:embed="rId4"/>
          <a:srcRect l="4178" t="91522" r="-4178" b="-1695"/>
          <a:stretch/>
        </p:blipFill>
        <p:spPr>
          <a:xfrm>
            <a:off x="-669995" y="4733662"/>
            <a:ext cx="4046488" cy="261767"/>
          </a:xfrm>
          <a:prstGeom prst="rect">
            <a:avLst/>
          </a:prstGeom>
        </p:spPr>
      </p:pic>
      <p:sp>
        <p:nvSpPr>
          <p:cNvPr id="39" name="Rectangle 11"/>
          <p:cNvSpPr/>
          <p:nvPr/>
        </p:nvSpPr>
        <p:spPr>
          <a:xfrm>
            <a:off x="4282783" y="3001173"/>
            <a:ext cx="50800" cy="215900"/>
          </a:xfrm>
          <a:prstGeom prst="rect">
            <a:avLst/>
          </a:prstGeom>
          <a:solidFill>
            <a:srgbClr val="B25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직사각형 28"/>
          <p:cNvSpPr/>
          <p:nvPr/>
        </p:nvSpPr>
        <p:spPr>
          <a:xfrm>
            <a:off x="6569202" y="4433218"/>
            <a:ext cx="301154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rgbClr val="2B2B2B"/>
                </a:solidFill>
                <a:latin typeface="맑은 고딕"/>
                <a:ea typeface="맑은 고딕"/>
              </a:rPr>
              <a:t>▲</a:t>
            </a:r>
            <a:r>
              <a:rPr lang="en-US" altLang="ko-KR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"</a:t>
            </a:r>
            <a:r>
              <a:rPr lang="en-US" altLang="ko-KR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○○</a:t>
            </a:r>
            <a:r>
              <a:rPr lang="ko-KR" altLang="en-US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은 </a:t>
            </a:r>
            <a:r>
              <a:rPr lang="en-US" altLang="ko-KR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___</a:t>
            </a:r>
            <a:r>
              <a:rPr lang="ko-KR" altLang="en-US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</a:t>
            </a:r>
            <a:r>
              <a:rPr lang="en-US" altLang="ko-KR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"</a:t>
            </a:r>
            <a:r>
              <a:rPr lang="ko-KR" altLang="en-US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의 빈칸을 채우게 </a:t>
            </a:r>
            <a:r>
              <a:rPr lang="ko-KR" altLang="en-US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 결과</a:t>
            </a:r>
            <a:r>
              <a:rPr lang="en-US" altLang="ko-KR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00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 smtClean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pic>
        <p:nvPicPr>
          <p:cNvPr id="41" name="Picture 18" descr="fig8-2card.png"/>
          <p:cNvPicPr>
            <a:picLocks noChangeAspect="1"/>
          </p:cNvPicPr>
          <p:nvPr/>
        </p:nvPicPr>
        <p:blipFill rotWithShape="1">
          <a:blip r:embed="rId5"/>
          <a:srcRect t="35041" b="34823"/>
          <a:stretch/>
        </p:blipFill>
        <p:spPr>
          <a:xfrm>
            <a:off x="6526843" y="3103221"/>
            <a:ext cx="2629417" cy="717635"/>
          </a:xfrm>
          <a:prstGeom prst="rect">
            <a:avLst/>
          </a:prstGeom>
        </p:spPr>
      </p:pic>
      <p:pic>
        <p:nvPicPr>
          <p:cNvPr id="42" name="Picture 18" descr="fig8-2card.png"/>
          <p:cNvPicPr>
            <a:picLocks noChangeAspect="1"/>
          </p:cNvPicPr>
          <p:nvPr/>
        </p:nvPicPr>
        <p:blipFill rotWithShape="1">
          <a:blip r:embed="rId5"/>
          <a:srcRect t="66276" b="1"/>
          <a:stretch/>
        </p:blipFill>
        <p:spPr>
          <a:xfrm>
            <a:off x="6529158" y="3767771"/>
            <a:ext cx="2626916" cy="802330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9437700" y="4119683"/>
            <a:ext cx="277373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▲ </a:t>
            </a:r>
            <a:r>
              <a:rPr lang="ko-KR" altLang="en-US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대조군 대비 특정 집단에 </a:t>
            </a:r>
            <a:endParaRPr lang="en-US" altLang="ko-KR" sz="1000" dirty="0" smtClean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부정어 비율이 쏠린다</a:t>
            </a:r>
            <a:r>
              <a:rPr lang="en-US" altLang="ko-KR" sz="1000" dirty="0" smtClean="0">
                <a:solidFill>
                  <a:srgbClr val="2B2B2B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000" dirty="0">
              <a:solidFill>
                <a:srgbClr val="2B2B2B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pic>
        <p:nvPicPr>
          <p:cNvPr id="2053" name="Picture 5" descr="C:\Users\82109\OneDrive\바탕 화면\Se_eon\projects\KOSSDA\04_output\figures\fig8-2_preview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765" y="2566855"/>
            <a:ext cx="2187006" cy="156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797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혐오의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미래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—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그때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말해진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것이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, 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지금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기계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안에</a:t>
            </a:r>
            <a:r>
              <a:rPr sz="2000" b="1" i="0" dirty="0">
                <a:solidFill>
                  <a:schemeClr val="bg1"/>
                </a:solidFill>
                <a:latin typeface="Gmarket Sans TTF Bold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있다</a:t>
            </a:r>
            <a:endParaRPr sz="2000" b="1" i="0" dirty="0">
              <a:solidFill>
                <a:srgbClr val="FFFFFF"/>
              </a:solidFill>
              <a:latin typeface="Gmarket Sans TTF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9 / 11</a:t>
            </a:r>
          </a:p>
        </p:txBody>
      </p:sp>
      <p:sp>
        <p:nvSpPr>
          <p:cNvPr id="9" name="Oval 8"/>
          <p:cNvSpPr/>
          <p:nvPr/>
        </p:nvSpPr>
        <p:spPr>
          <a:xfrm>
            <a:off x="896700" y="2000350"/>
            <a:ext cx="5092700" cy="2857500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49100" y="3228445"/>
            <a:ext cx="508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</a:t>
            </a:r>
            <a:r>
              <a:rPr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표현 순환</a:t>
            </a:r>
            <a:endParaRPr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84825" y="1733650"/>
            <a:ext cx="1676400" cy="533400"/>
          </a:xfrm>
          <a:prstGeom prst="roundRect">
            <a:avLst>
              <a:gd name="adj" fmla="val 14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658300" y="1695550"/>
            <a:ext cx="1676400" cy="533400"/>
          </a:xfrm>
          <a:prstGeom prst="roundRect">
            <a:avLst>
              <a:gd name="adj" fmla="val 14000"/>
            </a:avLst>
          </a:prstGeom>
          <a:solidFill>
            <a:schemeClr val="bg1">
              <a:lumMod val="95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658300" y="1807178"/>
            <a:ext cx="167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/>
              </a:rPr>
              <a:t>사회</a:t>
            </a:r>
            <a:endParaRPr b="1" i="0" dirty="0">
              <a:solidFill>
                <a:schemeClr val="tx1">
                  <a:lumMod val="75000"/>
                  <a:lumOff val="25000"/>
                </a:schemeClr>
              </a:solidFill>
              <a:latin typeface="Gmarket Sans TTF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0025" y="4299050"/>
            <a:ext cx="1676400" cy="533400"/>
          </a:xfrm>
          <a:prstGeom prst="roundRect">
            <a:avLst>
              <a:gd name="adj" fmla="val 14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93500" y="4260950"/>
            <a:ext cx="1676400" cy="533400"/>
          </a:xfrm>
          <a:prstGeom prst="roundRect">
            <a:avLst>
              <a:gd name="adj" fmla="val 14000"/>
            </a:avLst>
          </a:prstGeom>
          <a:solidFill>
            <a:schemeClr val="bg1">
              <a:lumMod val="75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93500" y="4384610"/>
            <a:ext cx="167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</a:t>
            </a:r>
            <a:endParaRPr b="1" i="0" dirty="0">
              <a:solidFill>
                <a:schemeClr val="tx1">
                  <a:lumMod val="75000"/>
                  <a:lumOff val="2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58950" y="4264325"/>
            <a:ext cx="1676400" cy="533400"/>
          </a:xfrm>
          <a:prstGeom prst="roundRect">
            <a:avLst>
              <a:gd name="adj" fmla="val 14000"/>
            </a:avLst>
          </a:prstGeom>
          <a:solidFill>
            <a:srgbClr val="4C4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4620850" y="4237800"/>
            <a:ext cx="1676400" cy="533400"/>
          </a:xfrm>
          <a:prstGeom prst="roundRect">
            <a:avLst>
              <a:gd name="adj" fmla="val 14000"/>
            </a:avLst>
          </a:prstGeom>
          <a:solidFill>
            <a:schemeClr val="accent1">
              <a:lumMod val="50000"/>
            </a:schemeClr>
          </a:solidFill>
          <a:ln w="1778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620850" y="4349428"/>
            <a:ext cx="167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/>
              </a:rPr>
              <a:t>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1727" y="1219199"/>
            <a:ext cx="3791673" cy="3804213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76200">
            <a:solidFill>
              <a:schemeClr val="tx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8332800" y="1396850"/>
            <a:ext cx="50800" cy="2159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8449350" y="14177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우리의 일상이 된 </a:t>
            </a:r>
            <a:r>
              <a:rPr lang="en-US" altLang="ko-KR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pic>
        <p:nvPicPr>
          <p:cNvPr id="31" name="Picture 30" descr="fig9_aiuse.png"/>
          <p:cNvPicPr>
            <a:picLocks noChangeAspect="1"/>
          </p:cNvPicPr>
          <p:nvPr/>
        </p:nvPicPr>
        <p:blipFill rotWithShape="1">
          <a:blip r:embed="rId3"/>
          <a:srcRect t="93530"/>
          <a:stretch/>
        </p:blipFill>
        <p:spPr>
          <a:xfrm>
            <a:off x="7991161" y="3656533"/>
            <a:ext cx="4274333" cy="2167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32800" y="3913700"/>
            <a:ext cx="352900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우리 언어의 일부가 되어가고 있다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모르는 내용은 묻고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검색하고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AI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로 글을 쓰고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en-US" altLang="ko-KR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를 활용해 다시 창작물을 만든다</a:t>
            </a:r>
            <a:r>
              <a:rPr lang="en-US" altLang="ko-KR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en-US" altLang="ko-KR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 err="1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sz="1050" b="0" i="0" dirty="0" err="1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그것을 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학습하고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다시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생성한다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endParaRPr lang="en-US" sz="1050" b="0" i="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쓰인 말이 사라지지 않고 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시스템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안에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남아</a:t>
            </a:r>
            <a:r>
              <a:rPr sz="105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재생산</a:t>
            </a:r>
            <a:r>
              <a:rPr lang="en-US" sz="105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될 수 있다</a:t>
            </a:r>
            <a:r>
              <a:rPr lang="en-US" altLang="ko-KR" sz="105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050" b="0" i="0" dirty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55900" y="5410200"/>
            <a:ext cx="66802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분노는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식는다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그러나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문법은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sz="28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남는다</a:t>
            </a:r>
            <a:r>
              <a:rPr sz="2800" b="1" i="0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sz="2800" b="1" i="0" dirty="0" smtClean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2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그리고 기계가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</a:t>
            </a:r>
            <a:r>
              <a:rPr lang="ko-KR" altLang="en-US" sz="2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그것을 다시 말한다</a:t>
            </a:r>
            <a:r>
              <a:rPr lang="en-US" altLang="ko-KR" sz="2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sz="2800" b="1" i="0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984453" y="1809392"/>
            <a:ext cx="2307042" cy="1877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우리나라 성인 </a:t>
            </a:r>
            <a:r>
              <a:rPr lang="ko-KR" altLang="en-US" sz="12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생성형</a:t>
            </a:r>
            <a:r>
              <a:rPr lang="ko-KR" altLang="en-US" sz="12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2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AI </a:t>
            </a:r>
            <a:r>
              <a:rPr lang="ko-KR" altLang="en-US" sz="12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경험률</a:t>
            </a:r>
            <a:endParaRPr lang="en-US" altLang="ko-KR" sz="1200" b="1" dirty="0" smtClean="0"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en-US" altLang="ko-KR" sz="4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78.1%</a:t>
            </a:r>
          </a:p>
          <a:p>
            <a:pPr algn="ctr"/>
            <a:endParaRPr lang="en-US" altLang="ko-KR" sz="1400" b="1" dirty="0" smtClean="0"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ko-KR" altLang="en-US" sz="14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 중 </a:t>
            </a:r>
            <a:r>
              <a:rPr lang="en-US" altLang="ko-KR" sz="14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20</a:t>
            </a:r>
            <a:r>
              <a:rPr lang="ko-KR" altLang="en-US" sz="1400" b="1" dirty="0" smtClean="0"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대는</a:t>
            </a:r>
            <a:endParaRPr lang="en-US" altLang="ko-KR" sz="1400" b="1" dirty="0" smtClean="0"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lang="en-US" altLang="ko-KR" sz="28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92.6%</a:t>
            </a:r>
            <a:endParaRPr lang="ko-KR" altLang="en-US" sz="2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26766" y="818191"/>
            <a:ext cx="8769262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앞서 보았듯 혐오는 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 학습된 연관으로 남는다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그런데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 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AI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 이제 우리의 일상이다</a:t>
            </a:r>
            <a:r>
              <a:rPr lang="en-US" altLang="ko-KR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35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남은 것이</a:t>
            </a:r>
            <a:r>
              <a:rPr lang="en-US" altLang="ko-KR" sz="1350" dirty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다시 흘러나올 수 있다</a:t>
            </a:r>
            <a:r>
              <a:rPr lang="en-US" altLang="ko-KR" sz="135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350" i="0" dirty="0">
              <a:solidFill>
                <a:srgbClr val="FFFFFF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55" name="자유형 54"/>
          <p:cNvSpPr/>
          <p:nvPr/>
        </p:nvSpPr>
        <p:spPr>
          <a:xfrm rot="338162">
            <a:off x="4985809" y="1917437"/>
            <a:ext cx="1566717" cy="1975200"/>
          </a:xfrm>
          <a:custGeom>
            <a:avLst/>
            <a:gdLst>
              <a:gd name="connsiteX0" fmla="*/ 1914725 w 2078427"/>
              <a:gd name="connsiteY0" fmla="*/ 2438400 h 2438400"/>
              <a:gd name="connsiteX1" fmla="*/ 2067125 w 2078427"/>
              <a:gd name="connsiteY1" fmla="*/ 2082800 h 2438400"/>
              <a:gd name="connsiteX2" fmla="*/ 2054425 w 2078427"/>
              <a:gd name="connsiteY2" fmla="*/ 1625600 h 2438400"/>
              <a:gd name="connsiteX3" fmla="*/ 1952825 w 2078427"/>
              <a:gd name="connsiteY3" fmla="*/ 1358900 h 2438400"/>
              <a:gd name="connsiteX4" fmla="*/ 1775025 w 2078427"/>
              <a:gd name="connsiteY4" fmla="*/ 1041400 h 2438400"/>
              <a:gd name="connsiteX5" fmla="*/ 1305125 w 2078427"/>
              <a:gd name="connsiteY5" fmla="*/ 444500 h 2438400"/>
              <a:gd name="connsiteX6" fmla="*/ 644725 w 2078427"/>
              <a:gd name="connsiteY6" fmla="*/ 76200 h 2438400"/>
              <a:gd name="connsiteX7" fmla="*/ 60525 w 2078427"/>
              <a:gd name="connsiteY7" fmla="*/ 25400 h 2438400"/>
              <a:gd name="connsiteX8" fmla="*/ 47825 w 2078427"/>
              <a:gd name="connsiteY8" fmla="*/ 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78427" h="2438400">
                <a:moveTo>
                  <a:pt x="1914725" y="2438400"/>
                </a:moveTo>
                <a:cubicBezTo>
                  <a:pt x="1979283" y="2328333"/>
                  <a:pt x="2043842" y="2218267"/>
                  <a:pt x="2067125" y="2082800"/>
                </a:cubicBezTo>
                <a:cubicBezTo>
                  <a:pt x="2090408" y="1947333"/>
                  <a:pt x="2073475" y="1746250"/>
                  <a:pt x="2054425" y="1625600"/>
                </a:cubicBezTo>
                <a:cubicBezTo>
                  <a:pt x="2035375" y="1504950"/>
                  <a:pt x="1999392" y="1456267"/>
                  <a:pt x="1952825" y="1358900"/>
                </a:cubicBezTo>
                <a:cubicBezTo>
                  <a:pt x="1906258" y="1261533"/>
                  <a:pt x="1882975" y="1193800"/>
                  <a:pt x="1775025" y="1041400"/>
                </a:cubicBezTo>
                <a:cubicBezTo>
                  <a:pt x="1667075" y="889000"/>
                  <a:pt x="1493508" y="605367"/>
                  <a:pt x="1305125" y="444500"/>
                </a:cubicBezTo>
                <a:cubicBezTo>
                  <a:pt x="1116742" y="283633"/>
                  <a:pt x="852158" y="146050"/>
                  <a:pt x="644725" y="76200"/>
                </a:cubicBezTo>
                <a:cubicBezTo>
                  <a:pt x="437292" y="6350"/>
                  <a:pt x="160008" y="38100"/>
                  <a:pt x="60525" y="25400"/>
                </a:cubicBezTo>
                <a:cubicBezTo>
                  <a:pt x="-38958" y="12700"/>
                  <a:pt x="4433" y="6350"/>
                  <a:pt x="47825" y="0"/>
                </a:cubicBezTo>
              </a:path>
            </a:pathLst>
          </a:custGeom>
          <a:noFill/>
          <a:ln w="101600"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011329" y="2313458"/>
            <a:ext cx="2159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  <a:cs typeface="Pretendard ExtraBold" pitchFamily="50" charset="-127"/>
              </a:rPr>
              <a:t>다시</a:t>
            </a:r>
            <a:endParaRPr lang="en-US" altLang="ko-KR" sz="2000" b="1" dirty="0" smtClean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  <a:cs typeface="Pretendard ExtraBold" pitchFamily="50" charset="-127"/>
            </a:endParaRPr>
          </a:p>
          <a:p>
            <a:pPr algn="ctr"/>
            <a:r>
              <a:rPr lang="ko-KR" alt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  <a:cs typeface="Pretendard ExtraBold" pitchFamily="50" charset="-127"/>
              </a:rPr>
              <a:t>우리에게</a:t>
            </a:r>
            <a:r>
              <a:rPr lang="en-US" altLang="ko-KR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  <a:cs typeface="Pretendard ExtraBold" pitchFamily="50" charset="-127"/>
              </a:rPr>
              <a:t>?</a:t>
            </a:r>
            <a:endParaRPr sz="2000" b="1" i="0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  <a:cs typeface="Pretendard ExtraBold" pitchFamily="50" charset="-127"/>
            </a:endParaRPr>
          </a:p>
        </p:txBody>
      </p:sp>
      <p:sp>
        <p:nvSpPr>
          <p:cNvPr id="56" name="이등변 삼각형 55"/>
          <p:cNvSpPr/>
          <p:nvPr/>
        </p:nvSpPr>
        <p:spPr>
          <a:xfrm rot="16411635">
            <a:off x="4733780" y="1677457"/>
            <a:ext cx="471860" cy="338993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6335350" y="3964796"/>
            <a:ext cx="1836377" cy="520694"/>
          </a:xfrm>
          <a:prstGeom prst="line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0757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3650"/>
            <a:ext cx="11366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결론</a:t>
            </a:r>
            <a:r>
              <a:rPr sz="2000" b="1" i="0" dirty="0">
                <a:solidFill>
                  <a:srgbClr val="FFFFFF"/>
                </a:solidFill>
                <a:latin typeface="Gmarket Sans TTF Bold"/>
              </a:rPr>
              <a:t> 및 </a:t>
            </a:r>
            <a:r>
              <a:rPr sz="2000" b="1" i="0" dirty="0" smtClean="0">
                <a:solidFill>
                  <a:srgbClr val="FFFFFF"/>
                </a:solidFill>
                <a:latin typeface="Gmarket Sans TTF Bold"/>
              </a:rPr>
              <a:t>제언</a:t>
            </a:r>
            <a:endParaRPr sz="2000" b="1" i="0" dirty="0">
              <a:solidFill>
                <a:schemeClr val="bg1"/>
              </a:solidFill>
              <a:latin typeface="Gmarket Sans TTF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000" y="66548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사회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 → 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언어</a:t>
            </a:r>
            <a:r>
              <a:rPr sz="1150" b="0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Medium"/>
              </a:rPr>
              <a:t> →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 dirty="0">
                <a:solidFill>
                  <a:srgbClr val="9A9A9A"/>
                </a:solidFill>
                <a:latin typeface="Gmarket Sans TTF Medium"/>
              </a:rP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2075024"/>
            <a:ext cx="3810000" cy="3090885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81000" y="2149225"/>
            <a:ext cx="50800" cy="215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20700" y="2170125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발견</a:t>
            </a:r>
            <a:r>
              <a:rPr sz="1500" b="1" i="0" dirty="0" smtClean="0">
                <a:solidFill>
                  <a:srgbClr val="2B2B2B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sz="1500" b="1" i="0" dirty="0">
              <a:solidFill>
                <a:srgbClr val="2B2B2B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91000" y="2075023"/>
            <a:ext cx="7772400" cy="3090885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4320250" y="2137650"/>
            <a:ext cx="50800" cy="215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483100" y="21585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2B2B2B"/>
                </a:solidFill>
                <a:latin typeface="Gmarket Sans TTF Bold"/>
              </a:rPr>
              <a:t>제언</a:t>
            </a:r>
            <a:r>
              <a:rPr sz="1500" b="1" i="0" dirty="0">
                <a:solidFill>
                  <a:srgbClr val="2B2B2B"/>
                </a:solidFill>
                <a:latin typeface="Gmarket Sans TTF Bold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445425"/>
            <a:ext cx="7620000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그렇다면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혐오는 감정의 문제가 아니라</a:t>
            </a:r>
            <a:r>
              <a:rPr lang="en-US" altLang="ko-KR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‘</a:t>
            </a:r>
            <a:r>
              <a:rPr lang="ko-KR" altLang="en-US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재생산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’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의 문제이다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그러면 개입의 자리도 달라진다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마음에서 채널로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삭제에서 학습 설계로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lang="en-US" altLang="ko-KR" sz="120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마음을 바꿔도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접촉 교육 </a:t>
            </a:r>
            <a:r>
              <a:rPr lang="en-US" altLang="ko-KR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Allport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20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1954·Pettigrew&amp;Tropp 2006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),</a:t>
            </a:r>
            <a:r>
              <a:rPr lang="en-US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문법은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채널</a:t>
            </a:r>
            <a:r>
              <a:rPr 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온라인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AI)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에서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200" b="0" i="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복제된다</a:t>
            </a:r>
            <a:r>
              <a:rPr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en-US" sz="1200" b="0" i="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endParaRPr lang="en-US" altLang="ko-KR" sz="1200" b="0" i="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경고 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지워도 남는다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 </a:t>
            </a:r>
            <a:r>
              <a:rPr 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“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무슬림은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테러리스트가 아니다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”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라고 부정해도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두 단어는 함께 등장하기에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부정 연관이 오히려 강화된다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200" dirty="0" smtClean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Kassner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&amp; 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Schütze</a:t>
            </a:r>
            <a:r>
              <a:rPr lang="en-US" altLang="ko-KR" sz="1200" dirty="0">
                <a:solidFill>
                  <a:srgbClr val="555555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2020). </a:t>
            </a:r>
            <a:endParaRPr lang="en-US" altLang="ko-KR" sz="120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 smtClean="0">
              <a:solidFill>
                <a:srgbClr val="555555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다음 </a:t>
            </a:r>
            <a:r>
              <a:rPr lang="ko-KR" altLang="en-US" sz="1400" dirty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세대의 언어 모델에게</a:t>
            </a:r>
            <a:r>
              <a:rPr lang="en-US" altLang="ko-KR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우리는</a:t>
            </a:r>
            <a:r>
              <a:rPr lang="en-US" altLang="ko-KR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무엇을 받아쓰게 하나</a:t>
            </a:r>
            <a:r>
              <a:rPr lang="en-US" altLang="ko-KR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그 선택은 지금</a:t>
            </a:r>
            <a:r>
              <a:rPr lang="en-US" altLang="ko-KR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 몫이다</a:t>
            </a:r>
            <a:r>
              <a:rPr lang="en-US" altLang="ko-KR" sz="1400" dirty="0" smtClean="0">
                <a:solidFill>
                  <a:srgbClr val="555555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altLang="ko-KR" sz="1400" dirty="0">
              <a:solidFill>
                <a:srgbClr val="555555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38665" y="5254068"/>
            <a:ext cx="11430000" cy="0"/>
          </a:xfrm>
          <a:prstGeom prst="bentConnector3">
            <a:avLst/>
          </a:prstGeom>
          <a:ln w="127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" y="5325781"/>
            <a:ext cx="1173480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00" dirty="0" smtClean="0">
                <a:solidFill>
                  <a:srgbClr val="EDEDED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한계 및 유의</a:t>
            </a:r>
            <a:endParaRPr lang="en-US" altLang="ko-KR" sz="1200" dirty="0" smtClean="0">
              <a:solidFill>
                <a:srgbClr val="EDEDED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Dataset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한계 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</a:t>
            </a:r>
            <a:r>
              <a:rPr sz="10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KOLD</a:t>
            </a:r>
            <a:r>
              <a:rPr lang="en-US" sz="10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데이터셋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은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sz="1000" b="0" i="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offense-prone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키워드를 기반으로 수집되어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무작위 수집이 아니다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또한 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KOLD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주석자간 일치도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 a =0.55)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한계가 존재하였다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(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다중 주석자 합의 라벨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-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Jeong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2022)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따라서 빈도와 순위는 모집단을 대표하지 않는다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(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단 본 연구 주장은 구조 및 양식에 초점을 두어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상대적으로 이 편향에 둔감한 구조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분석에 초점을 두고 빈도 분석은 보조로만 활용하였다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해당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데이터셋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기반으로 추출한 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Co-targeting network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는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표본 수 한계가 존재한다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(n=278). / WEAT(2022)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방법론 한계 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동적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임베딩에서의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고수준 문장 맥락은 반영할 수 없어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정적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임베딩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모델로 분석을 진행하였다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분석 결과는 학습된 연관이지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AI </a:t>
            </a:r>
            <a:r>
              <a:rPr lang="ko-KR" altLang="en-US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모델 자체를 대표하는 의견은 아니다</a:t>
            </a:r>
            <a:r>
              <a:rPr lang="en-US" altLang="ko-KR" sz="1000" dirty="0" smtClean="0">
                <a:solidFill>
                  <a:srgbClr val="EDEDED"/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000" b="0" i="0" dirty="0">
              <a:solidFill>
                <a:srgbClr val="EDEDED"/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1800" y="2486602"/>
            <a:ext cx="3485682" cy="2816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1)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사회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갈등과 혐오가 실재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2)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언어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방식도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표적도 규칙인 구조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3) AI :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감정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경험도 없이 학습된 구조가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재생성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우리는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누가 많이 공격받나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가 아니라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구조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’,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즉 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어떤 규칙으로 짜이나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를 보았다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사회에서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인식되고 경험된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온라인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언어에서 문법과 구조로 남았고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AI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안에서는 학습된 연관으로 이어질 수 있었다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54000" y="770787"/>
            <a:ext cx="10472089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Q :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어떻게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남아 재생산되는가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A : </a:t>
            </a:r>
            <a:r>
              <a:rPr lang="ko-KR" altLang="en-US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혐오는</a:t>
            </a:r>
            <a:r>
              <a:rPr lang="en-US" altLang="ko-KR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000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학습되는 </a:t>
            </a:r>
            <a:r>
              <a:rPr lang="en-US" altLang="ko-KR" sz="2000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‘</a:t>
            </a:r>
            <a:r>
              <a:rPr lang="ko-KR" altLang="en-US" sz="2000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문법</a:t>
            </a:r>
            <a:r>
              <a:rPr lang="en-US" altLang="ko-KR" sz="2000" u="sng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’</a:t>
            </a:r>
            <a:r>
              <a:rPr lang="ko-KR" altLang="en-US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으로</a:t>
            </a:r>
            <a:r>
              <a:rPr lang="en-US" altLang="ko-KR" sz="20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남고</a:t>
            </a:r>
            <a:r>
              <a:rPr lang="en-US" altLang="ko-KR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, </a:t>
            </a:r>
            <a:r>
              <a:rPr lang="ko-KR" altLang="en-US" sz="2000" u="sng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기계가 다시 써내며 </a:t>
            </a:r>
            <a:r>
              <a:rPr lang="ko-KR" altLang="en-US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재생산된다</a:t>
            </a:r>
            <a:r>
              <a:rPr lang="en-US" altLang="ko-KR" sz="20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감정은 식는다</a:t>
            </a:r>
            <a:r>
              <a:rPr lang="en-US" altLang="ko-K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lang="ko-KR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감정뿐이라면</a:t>
            </a:r>
            <a:r>
              <a:rPr lang="en-US" altLang="ko-K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 </a:t>
            </a:r>
            <a:r>
              <a:rPr lang="ko-KR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남을 수 없다</a:t>
            </a:r>
            <a:r>
              <a:rPr lang="en-US" altLang="ko-K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 </a:t>
            </a:r>
            <a:r>
              <a:rPr lang="ko-KR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재생산은 전달 가능한 구조를 요구한다</a:t>
            </a:r>
            <a:r>
              <a:rPr lang="en-US" altLang="ko-KR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.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4000" y="228600"/>
            <a:ext cx="35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Gmarket Sans TTF Bol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90500"/>
            <a:ext cx="1136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market Sans TTF Bold"/>
              </a:rPr>
              <a:t>참고문헌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0" y="6654800"/>
            <a:ext cx="35814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A9A9A"/>
                </a:solidFill>
                <a:latin typeface="Gmarket Sans TTF Medium"/>
              </a:rPr>
              <a:t>11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003300"/>
            <a:ext cx="50800" cy="20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700" y="990600"/>
            <a:ext cx="5334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market Sans TTF Bold"/>
              </a:rPr>
              <a:t>Ⅰ.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3716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한국행정연구원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. 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사회통합실태조사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, 2014–2024 [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데이터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 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세트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612900"/>
            <a:ext cx="5588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  </a:t>
            </a:r>
            <a:r>
              <a:rPr sz="1000" b="0" i="0" dirty="0" err="1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한국사회과학자료원</a:t>
            </a:r>
            <a:r>
              <a:rPr sz="1000" b="0" i="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(KOSSDA) </a:t>
            </a:r>
            <a:r>
              <a:rPr sz="1000" b="0" i="0" dirty="0" err="1" smtClean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제공</a:t>
            </a:r>
            <a:endParaRPr lang="en-US" sz="1000" dirty="0">
              <a:solidFill>
                <a:schemeClr val="bg1">
                  <a:lumMod val="6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  <a:p>
            <a:r>
              <a:rPr lang="ko-KR" altLang="en-US" sz="1000" dirty="0" smtClean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자료번호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A1-2014-0217, A1-2015-0144, A1-2016-0092, A1-2017-0071, A1-2018-0108, A1-2019-0060, A1-2020-0033, A1-2021-0090, A1-2022-0068, A1-2023-0040, 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A1-2024-0066./DOI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: 10.22687/KOSSDA-A1-2014-0217-V1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외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10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 panose="02000000000000000000" pitchFamily="2" charset="-127"/>
                <a:ea typeface="Gmarket Sans TTF Medium" panose="02000000000000000000" pitchFamily="2" charset="-127"/>
              </a:rPr>
              <a:t>.</a:t>
            </a:r>
            <a:endParaRPr sz="1000" b="0" i="0" dirty="0">
              <a:solidFill>
                <a:schemeClr val="bg1">
                  <a:lumMod val="65000"/>
                </a:schemeClr>
              </a:solidFill>
              <a:latin typeface="Gmarket Sans TTF Medium" panose="02000000000000000000" pitchFamily="2" charset="-127"/>
              <a:ea typeface="Gmarket Sans TTF Medium" panose="020000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3635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국가인권위원회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. 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인권의식실태조사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, 2020–2024 [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데이터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 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세트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614358"/>
            <a:ext cx="558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 </a:t>
            </a:r>
            <a:r>
              <a:rPr lang="ko-KR" altLang="en-US"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한국사회과학 </a:t>
            </a:r>
            <a:r>
              <a:rPr lang="ko-KR" altLang="en-US" sz="1000" b="0" i="0" dirty="0" err="1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자료원</a:t>
            </a:r>
            <a:r>
              <a:rPr lang="ko-KR" altLang="en-US"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</a:t>
            </a:r>
            <a:r>
              <a:rPr lang="en-US" altLang="ko-KR"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(</a:t>
            </a:r>
            <a:r>
              <a:rPr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KOSSDA</a:t>
            </a:r>
            <a:r>
              <a:rPr lang="en-US"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)</a:t>
            </a:r>
            <a:r>
              <a:rPr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</a:t>
            </a:r>
            <a:r>
              <a:rPr sz="1000" b="0" i="0" dirty="0" err="1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제공</a:t>
            </a:r>
            <a:endParaRPr lang="en-US" sz="1000" dirty="0">
              <a:solidFill>
                <a:schemeClr val="bg1">
                  <a:lumMod val="65000"/>
                </a:schemeClr>
              </a:solidFill>
              <a:latin typeface="Gmarket Sans TTF Medium"/>
            </a:endParaRPr>
          </a:p>
          <a:p>
            <a:r>
              <a:rPr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(2021</a:t>
            </a:r>
            <a:r>
              <a:rPr sz="1000" b="0" i="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년 </a:t>
            </a:r>
            <a:r>
              <a:rPr sz="1000" b="0" i="0" dirty="0" err="1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이전</a:t>
            </a:r>
            <a:r>
              <a:rPr sz="1000" b="0" i="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「</a:t>
            </a:r>
            <a:r>
              <a:rPr sz="1000" b="0" i="0" dirty="0" err="1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국가인권실태조사</a:t>
            </a:r>
            <a:r>
              <a:rPr sz="1000" b="0" i="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」)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 자료번호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: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A1-2020-0110, A1-2021-0114, A1-2022-0112, A1-2023-0099, </a:t>
            </a:r>
            <a:r>
              <a:rPr lang="en-US" sz="1000" dirty="0" smtClean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A1-2024-0044./DOI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: 10.22687/KOSSDA-A1-2020-0110-V1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외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4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Gmarket Sans TTF Medium"/>
              </a:rPr>
              <a:t>.</a:t>
            </a:r>
            <a:endParaRPr sz="1000" b="0" i="0" dirty="0">
              <a:solidFill>
                <a:schemeClr val="bg1">
                  <a:lumMod val="65000"/>
                </a:schemeClr>
              </a:solidFill>
              <a:latin typeface="Gmarket Sans TTF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" y="314705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EDED"/>
                </a:solidFill>
                <a:latin typeface="Gmarket Sans TTF Medium"/>
              </a:rPr>
              <a:t>Jeong et al. (2022). KOLD [데이터 세트]. GitHub.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000" y="3564225"/>
            <a:ext cx="5473700" cy="0"/>
          </a:xfrm>
          <a:prstGeom prst="bentConnector3">
            <a:avLst/>
          </a:prstGeom>
          <a:ln w="127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1000" y="3706175"/>
            <a:ext cx="50800" cy="20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0700" y="3693475"/>
            <a:ext cx="5334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Gmarket Sans TTF Bold"/>
              </a:rPr>
              <a:t>Ⅱ. </a:t>
            </a:r>
            <a:r>
              <a:rPr sz="1300" b="1" i="0" dirty="0" err="1">
                <a:solidFill>
                  <a:srgbClr val="FFFFFF"/>
                </a:solidFill>
                <a:latin typeface="Gmarket Sans TTF Bold"/>
              </a:rPr>
              <a:t>국문</a:t>
            </a:r>
            <a:r>
              <a:rPr sz="1300" b="1" i="0" dirty="0">
                <a:solidFill>
                  <a:srgbClr val="FFFFFF"/>
                </a:solidFill>
                <a:latin typeface="Gmarket Sans TTF Bold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Gmarket Sans TTF Bold"/>
              </a:rPr>
              <a:t>문헌</a:t>
            </a:r>
            <a:endParaRPr sz="1300" b="1" i="0" dirty="0">
              <a:solidFill>
                <a:srgbClr val="FFFFFF"/>
              </a:solidFill>
              <a:latin typeface="Gmarket Sans TTF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000" y="4049075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EDED"/>
                </a:solidFill>
                <a:latin typeface="Gmarket Sans TTF Medium"/>
              </a:rPr>
              <a:t>강준만 (2024). 『증오와 혐오의 시대』. 인물과사상사.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303075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EDED"/>
                </a:solidFill>
                <a:latin typeface="Gmarket Sans TTF Medium"/>
              </a:rPr>
              <a:t>손희정 (2015). 「혐오의 시대」. 『문화과학』 83.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557075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EDED"/>
                </a:solidFill>
                <a:latin typeface="Gmarket Sans TTF Medium"/>
              </a:rPr>
              <a:t>이정복 (2017). 「한국어와 한국 사회의 혐오·차별 표현」.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811075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  『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새국어생활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』 27(3). </a:t>
            </a:r>
            <a:r>
              <a:rPr sz="1100" b="0" i="0" dirty="0" err="1">
                <a:solidFill>
                  <a:srgbClr val="EDEDED"/>
                </a:solidFill>
                <a:latin typeface="Gmarket Sans TTF Medium"/>
              </a:rPr>
              <a:t>국립국어원</a:t>
            </a:r>
            <a:r>
              <a:rPr sz="1100" b="0" i="0" dirty="0">
                <a:solidFill>
                  <a:srgbClr val="EDEDED"/>
                </a:solidFill>
                <a:latin typeface="Gmarket Sans TTF Medium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7300" y="1003300"/>
            <a:ext cx="50800" cy="20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7000" y="990600"/>
            <a:ext cx="5334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market Sans TTF Bold"/>
              </a:rPr>
              <a:t>Ⅲ. 영문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7300" y="134620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Allport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, G. W. (1954). The Nature of Prejudice.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7300" y="1562100"/>
            <a:ext cx="5588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Bojanowski et al. (2017). Enriching Word Vectors… (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fastText</a:t>
            </a:r>
            <a:r>
              <a:rPr sz="1050" b="0" i="0" dirty="0" smtClean="0">
                <a:solidFill>
                  <a:srgbClr val="EDEDED"/>
                </a:solidFill>
                <a:latin typeface="Gmarket Sans TTF Medium"/>
              </a:rPr>
              <a:t>)</a:t>
            </a:r>
            <a:endParaRPr lang="en-US" sz="1050" b="0" i="0" dirty="0" smtClean="0">
              <a:solidFill>
                <a:srgbClr val="EDEDED"/>
              </a:solidFill>
              <a:latin typeface="Gmarket Sans TTF Medium"/>
            </a:endParaRPr>
          </a:p>
          <a:p>
            <a:r>
              <a:rPr lang="en-US" sz="1050" dirty="0">
                <a:solidFill>
                  <a:srgbClr val="EDEDED"/>
                </a:solidFill>
                <a:latin typeface="Gmarket Sans TTF Medium"/>
              </a:rPr>
              <a:t>Butler, J. (1997). Excitable Speech: A Politics of the Performative.</a:t>
            </a:r>
            <a:endParaRPr sz="1050" b="0" i="0" dirty="0">
              <a:solidFill>
                <a:srgbClr val="EDEDED"/>
              </a:solidFill>
              <a:latin typeface="Gmarket Sans TTF Medium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37300" y="1897746"/>
            <a:ext cx="5588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Caliskan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et al. (2017). …human-like biases. Science. (WEAT</a:t>
            </a:r>
            <a:r>
              <a:rPr sz="1050" b="0" i="0" dirty="0" smtClean="0">
                <a:solidFill>
                  <a:srgbClr val="EDEDED"/>
                </a:solidFill>
                <a:latin typeface="Gmarket Sans TTF Medium"/>
              </a:rPr>
              <a:t>)</a:t>
            </a:r>
            <a:endParaRPr lang="en-US" sz="1050" b="0" i="0" dirty="0" smtClean="0">
              <a:solidFill>
                <a:srgbClr val="EDEDED"/>
              </a:solidFill>
              <a:latin typeface="Gmarket Sans TTF Medium"/>
            </a:endParaRPr>
          </a:p>
          <a:p>
            <a:pPr algn="l"/>
            <a:endParaRPr sz="1050" b="0" i="0" dirty="0">
              <a:solidFill>
                <a:srgbClr val="EDEDED"/>
              </a:solidFill>
              <a:latin typeface="Gmarket Sans TTF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37300" y="21027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Hagberg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et al. (2008).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NetworkX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7300" y="23186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Kassner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&amp;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Schütze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(2020). Negated… Probes. ACL.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7300" y="25345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Mathew et al. (2021).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HateXplain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. AAAI.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7300" y="27504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EDED"/>
                </a:solidFill>
                <a:latin typeface="Gmarket Sans TTF Medium"/>
              </a:rPr>
              <a:t>Monroe et al. (2008). Fightin’ Words. (log-odds)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7300" y="29663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Park et al. (2021). KLUE. (KLUE-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RoBERTa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7300" y="3182260"/>
            <a:ext cx="5588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Pettigrew &amp;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Tropp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(2006). …Intergroup Contact.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7300" y="3398160"/>
            <a:ext cx="5588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Zick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et al. (2008). …Group-Focused Enmity. (GFE</a:t>
            </a:r>
            <a:r>
              <a:rPr sz="1050" b="0" i="0" dirty="0" smtClean="0">
                <a:solidFill>
                  <a:srgbClr val="EDEDED"/>
                </a:solidFill>
                <a:latin typeface="Gmarket Sans TTF Medium"/>
              </a:rPr>
              <a:t>)</a:t>
            </a:r>
            <a:endParaRPr lang="en-US" sz="1050" b="0" i="0" dirty="0" smtClean="0">
              <a:solidFill>
                <a:srgbClr val="EDEDED"/>
              </a:solidFill>
              <a:latin typeface="Gmarket Sans TTF Medium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337300" y="3780978"/>
            <a:ext cx="5473700" cy="0"/>
          </a:xfrm>
          <a:prstGeom prst="bentConnector3">
            <a:avLst/>
          </a:prstGeom>
          <a:ln w="1270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337300" y="3695700"/>
            <a:ext cx="50800" cy="20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77000" y="3933378"/>
            <a:ext cx="5334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market Sans TTF Bold"/>
              </a:rPr>
              <a:t>Ⅳ. 웹 · 모델 · 통계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7300" y="4263578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과학기술정보통신부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(2026). 2025년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부가통신사업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실태조사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7300" y="4492178"/>
            <a:ext cx="5588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KLUE-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RoBERTa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 · </a:t>
            </a:r>
            <a:r>
              <a:rPr sz="1050" b="0" i="0" dirty="0" err="1">
                <a:solidFill>
                  <a:srgbClr val="EDEDED"/>
                </a:solidFill>
                <a:latin typeface="Gmarket Sans TTF Medium"/>
              </a:rPr>
              <a:t>fastText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(cc.ko.300) </a:t>
            </a:r>
            <a:endParaRPr lang="en-US" sz="1050" b="0" i="0" dirty="0" smtClean="0">
              <a:solidFill>
                <a:srgbClr val="EDEDED"/>
              </a:solidFill>
              <a:latin typeface="Gmarket Sans TTF Medium"/>
            </a:endParaRPr>
          </a:p>
          <a:p>
            <a:pPr algn="l"/>
            <a:r>
              <a:rPr sz="1050" b="0" i="0" dirty="0" smtClean="0">
                <a:solidFill>
                  <a:srgbClr val="EDEDED"/>
                </a:solidFill>
                <a:latin typeface="Gmarket Sans TTF Medium"/>
              </a:rPr>
              <a:t>— </a:t>
            </a:r>
            <a:r>
              <a:rPr sz="1050" b="0" i="0" dirty="0">
                <a:solidFill>
                  <a:srgbClr val="EDEDED"/>
                </a:solidFill>
                <a:latin typeface="Gmarket Sans TTF Medium"/>
              </a:rPr>
              <a:t>Hugging Face / fasttext.cc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3171</TotalTime>
  <Words>2324</Words>
  <Application>Microsoft Office PowerPoint</Application>
  <PresentationFormat>사용자 지정</PresentationFormat>
  <Paragraphs>291</Paragraphs>
  <Slides>12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김세언</dc:creator>
  <dc:description>generated using python-pptx</dc:description>
  <cp:lastModifiedBy>82109</cp:lastModifiedBy>
  <cp:revision>123</cp:revision>
  <dcterms:created xsi:type="dcterms:W3CDTF">2013-01-27T09:14:16Z</dcterms:created>
  <dcterms:modified xsi:type="dcterms:W3CDTF">2026-06-29T13:47:01Z</dcterms:modified>
</cp:coreProperties>
</file>